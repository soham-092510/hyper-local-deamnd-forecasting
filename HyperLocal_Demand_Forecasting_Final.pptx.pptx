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Noto Serif Ethiopic Condensed" charset="1" panose="02020502060505020204"/>
      <p:regular r:id="rId27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 Bold Italics" charset="1" panose="020F07020304040A0204"/>
      <p:regular r:id="rId37"/>
    </p:embeddedFont>
    <p:embeddedFont>
      <p:font typeface="Fineday One" charset="1" panose="0000050000000000000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49440" cy="10287000"/>
            <a:chOff x="0" y="0"/>
            <a:chExt cx="92659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659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3A8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1703" y="718823"/>
            <a:ext cx="2037083" cy="2037083"/>
            <a:chOff x="0" y="0"/>
            <a:chExt cx="2716111" cy="27161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61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716149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cubicBezTo>
                    <a:pt x="2107946" y="0"/>
                    <a:pt x="2716149" y="608076"/>
                    <a:pt x="2716149" y="1358011"/>
                  </a:cubicBezTo>
                  <a:cubicBezTo>
                    <a:pt x="2716149" y="2107946"/>
                    <a:pt x="2108073" y="2716149"/>
                    <a:pt x="1358011" y="2716149"/>
                  </a:cubicBezTo>
                  <a:cubicBezTo>
                    <a:pt x="607949" y="2716149"/>
                    <a:pt x="0" y="2108073"/>
                    <a:pt x="0" y="1358011"/>
                  </a:cubicBezTo>
                  <a:close/>
                </a:path>
              </a:pathLst>
            </a:custGeom>
            <a:solidFill>
              <a:srgbClr val="2563EB">
                <a:alpha val="20000"/>
              </a:srgbClr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107943" y="1998983"/>
            <a:ext cx="1122683" cy="1122683"/>
            <a:chOff x="0" y="0"/>
            <a:chExt cx="1496911" cy="1496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06B6D4">
                <a:alpha val="20000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81863" y="8765543"/>
            <a:ext cx="1488443" cy="1488443"/>
            <a:chOff x="0" y="0"/>
            <a:chExt cx="1984591" cy="198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4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1984502">
                  <a:moveTo>
                    <a:pt x="0" y="992251"/>
                  </a:moveTo>
                  <a:cubicBezTo>
                    <a:pt x="0" y="444246"/>
                    <a:pt x="444246" y="0"/>
                    <a:pt x="992251" y="0"/>
                  </a:cubicBezTo>
                  <a:cubicBezTo>
                    <a:pt x="1540256" y="0"/>
                    <a:pt x="1984502" y="444246"/>
                    <a:pt x="1984502" y="992251"/>
                  </a:cubicBezTo>
                  <a:cubicBezTo>
                    <a:pt x="1984502" y="1540256"/>
                    <a:pt x="1540256" y="1984502"/>
                    <a:pt x="992251" y="1984502"/>
                  </a:cubicBezTo>
                  <a:cubicBezTo>
                    <a:pt x="444246" y="1984502"/>
                    <a:pt x="0" y="1540383"/>
                    <a:pt x="0" y="992251"/>
                  </a:cubicBezTo>
                  <a:close/>
                </a:path>
              </a:pathLst>
            </a:custGeom>
            <a:solidFill>
              <a:srgbClr val="7C3AED">
                <a:alpha val="20000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839463" y="7668263"/>
            <a:ext cx="830075" cy="830075"/>
            <a:chOff x="0" y="0"/>
            <a:chExt cx="1106767" cy="1106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BBF24">
                <a:alpha val="20000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480" y="2377440"/>
            <a:ext cx="1828800" cy="1828800"/>
            <a:chOff x="0" y="0"/>
            <a:chExt cx="2438400" cy="2438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760" y="4663440"/>
            <a:ext cx="6217920" cy="640080"/>
            <a:chOff x="0" y="0"/>
            <a:chExt cx="829056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90560" cy="853440"/>
            </a:xfrm>
            <a:custGeom>
              <a:avLst/>
              <a:gdLst/>
              <a:ahLst/>
              <a:cxnLst/>
              <a:rect r="r" b="b" t="t" l="l"/>
              <a:pathLst>
                <a:path h="8534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290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800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PROJECT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3143" y="4595879"/>
            <a:ext cx="4963163" cy="720347"/>
            <a:chOff x="0" y="0"/>
            <a:chExt cx="6617551" cy="9604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17589" cy="960501"/>
            </a:xfrm>
            <a:custGeom>
              <a:avLst/>
              <a:gdLst/>
              <a:ahLst/>
              <a:cxnLst/>
              <a:rect r="r" b="b" t="t" l="l"/>
              <a:pathLst>
                <a:path h="960501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FBBF24">
                <a:alpha val="1961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65760" y="5478780"/>
            <a:ext cx="6217920" cy="1301623"/>
            <a:chOff x="0" y="0"/>
            <a:chExt cx="8290560" cy="17354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90560" cy="1735497"/>
            </a:xfrm>
            <a:custGeom>
              <a:avLst/>
              <a:gdLst/>
              <a:ahLst/>
              <a:cxnLst/>
              <a:rect r="r" b="b" t="t" l="l"/>
              <a:pathLst>
                <a:path h="1735497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735497"/>
                  </a:lnTo>
                  <a:lnTo>
                    <a:pt x="0" y="17354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005" r="0" b="-141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290560" cy="1745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Presented by: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Soham Haridas Gaikwad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Yash Fangal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Aditya Gode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760" y="6876288"/>
            <a:ext cx="6217920" cy="692023"/>
            <a:chOff x="0" y="0"/>
            <a:chExt cx="8290560" cy="922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90560" cy="922697"/>
            </a:xfrm>
            <a:custGeom>
              <a:avLst/>
              <a:gdLst/>
              <a:ahLst/>
              <a:cxnLst/>
              <a:rect r="r" b="b" t="t" l="l"/>
              <a:pathLst>
                <a:path h="922697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22697"/>
                  </a:lnTo>
                  <a:lnTo>
                    <a:pt x="0" y="922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078" r="0" b="-11207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290560" cy="932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Course: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Data Science with Python(PDS)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5760" y="7668263"/>
            <a:ext cx="6217920" cy="692023"/>
            <a:chOff x="0" y="0"/>
            <a:chExt cx="8290560" cy="9226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90560" cy="922697"/>
            </a:xfrm>
            <a:custGeom>
              <a:avLst/>
              <a:gdLst/>
              <a:ahLst/>
              <a:cxnLst/>
              <a:rect r="r" b="b" t="t" l="l"/>
              <a:pathLst>
                <a:path h="922697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22697"/>
                  </a:lnTo>
                  <a:lnTo>
                    <a:pt x="0" y="9226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078" r="0" b="-11207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290560" cy="932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College: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Sardar Patel Institute Of Techonology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5760" y="8354573"/>
            <a:ext cx="6217920" cy="512064"/>
            <a:chOff x="0" y="0"/>
            <a:chExt cx="829056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[06 May 2026]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98080" y="1005840"/>
            <a:ext cx="10241280" cy="1280160"/>
            <a:chOff x="0" y="0"/>
            <a:chExt cx="1365504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65503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42875"/>
              <a:ext cx="1365504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 spc="599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HYPER-LOCAL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498080" y="2194560"/>
            <a:ext cx="10241280" cy="1316736"/>
            <a:chOff x="0" y="0"/>
            <a:chExt cx="13655040" cy="17556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6550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00025"/>
              <a:ext cx="13655040" cy="195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9"/>
                </a:lnSpc>
              </a:pPr>
              <a:r>
                <a:rPr lang="en-US" sz="9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98080" y="3419856"/>
            <a:ext cx="10241280" cy="1316736"/>
            <a:chOff x="0" y="0"/>
            <a:chExt cx="13655040" cy="17556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55039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00025"/>
              <a:ext cx="13655040" cy="195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9"/>
                </a:lnSpc>
              </a:pPr>
              <a:r>
                <a:rPr lang="en-US" sz="9999" b="true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98080" y="4645152"/>
            <a:ext cx="10241280" cy="1005840"/>
            <a:chOff x="0" y="0"/>
            <a:chExt cx="136550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6550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23825"/>
              <a:ext cx="1365504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498080" y="5943600"/>
            <a:ext cx="10058400" cy="73152"/>
            <a:chOff x="0" y="0"/>
            <a:chExt cx="13411200" cy="975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0" cy="97536"/>
            </a:xfrm>
            <a:custGeom>
              <a:avLst/>
              <a:gdLst/>
              <a:ahLst/>
              <a:cxnLst/>
              <a:rect r="r" b="b" t="t" l="l"/>
              <a:pathLst>
                <a:path h="9753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498080" y="6181344"/>
            <a:ext cx="10058400" cy="694944"/>
            <a:chOff x="0" y="0"/>
            <a:chExt cx="134112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411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Using Machine Learning &amp; Time Series Models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79030" y="7296150"/>
            <a:ext cx="3055620" cy="1684020"/>
            <a:chOff x="0" y="0"/>
            <a:chExt cx="4074160" cy="224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741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4074160">
                  <a:moveTo>
                    <a:pt x="0" y="0"/>
                  </a:moveTo>
                  <a:lnTo>
                    <a:pt x="4074160" y="0"/>
                  </a:lnTo>
                  <a:lnTo>
                    <a:pt x="4074160" y="2245360"/>
                  </a:lnTo>
                  <a:lnTo>
                    <a:pt x="0" y="2245360"/>
                  </a:lnTo>
                  <a:close/>
                </a:path>
              </a:pathLst>
            </a:custGeom>
            <a:solidFill>
              <a:srgbClr val="06B6D4">
                <a:alpha val="3922"/>
              </a:srgbClr>
            </a:solidFill>
            <a:ln w="381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498080" y="7370064"/>
            <a:ext cx="3017520" cy="768096"/>
            <a:chOff x="0" y="0"/>
            <a:chExt cx="402336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40233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  <a:r>
                <a:rPr lang="en-US" sz="34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Years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98080" y="8119872"/>
            <a:ext cx="3017520" cy="548640"/>
            <a:chOff x="0" y="0"/>
            <a:chExt cx="40233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023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Data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862310" y="7296150"/>
            <a:ext cx="3055620" cy="1684020"/>
            <a:chOff x="0" y="0"/>
            <a:chExt cx="4074160" cy="224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741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4074160">
                  <a:moveTo>
                    <a:pt x="0" y="0"/>
                  </a:moveTo>
                  <a:lnTo>
                    <a:pt x="4074160" y="0"/>
                  </a:lnTo>
                  <a:lnTo>
                    <a:pt x="4074160" y="2245360"/>
                  </a:lnTo>
                  <a:lnTo>
                    <a:pt x="0" y="2245360"/>
                  </a:lnTo>
                  <a:close/>
                </a:path>
              </a:pathLst>
            </a:custGeom>
            <a:solidFill>
              <a:srgbClr val="10B981">
                <a:alpha val="3922"/>
              </a:srgbClr>
            </a:solidFill>
            <a:ln w="381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881360" y="7370064"/>
            <a:ext cx="3017520" cy="768096"/>
            <a:chOff x="0" y="0"/>
            <a:chExt cx="402336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40233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0.85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881360" y="8119872"/>
            <a:ext cx="3017520" cy="548640"/>
            <a:chOff x="0" y="0"/>
            <a:chExt cx="402336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023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Accuracy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245590" y="7296150"/>
            <a:ext cx="3055620" cy="1684020"/>
            <a:chOff x="0" y="0"/>
            <a:chExt cx="4074160" cy="224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74160" cy="2245360"/>
            </a:xfrm>
            <a:custGeom>
              <a:avLst/>
              <a:gdLst/>
              <a:ahLst/>
              <a:cxnLst/>
              <a:rect r="r" b="b" t="t" l="l"/>
              <a:pathLst>
                <a:path h="2245360" w="4074160">
                  <a:moveTo>
                    <a:pt x="0" y="0"/>
                  </a:moveTo>
                  <a:lnTo>
                    <a:pt x="4074160" y="0"/>
                  </a:lnTo>
                  <a:lnTo>
                    <a:pt x="4074160" y="2245360"/>
                  </a:lnTo>
                  <a:lnTo>
                    <a:pt x="0" y="2245360"/>
                  </a:lnTo>
                  <a:close/>
                </a:path>
              </a:pathLst>
            </a:custGeom>
            <a:solidFill>
              <a:srgbClr val="FBBF24">
                <a:alpha val="3922"/>
              </a:srgbClr>
            </a:solidFill>
            <a:ln w="381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264640" y="7370064"/>
            <a:ext cx="3017520" cy="768096"/>
            <a:chOff x="0" y="0"/>
            <a:chExt cx="4023360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40233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~7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64640" y="8119872"/>
            <a:ext cx="3017520" cy="548640"/>
            <a:chOff x="0" y="0"/>
            <a:chExt cx="40233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023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Error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251943" y="-927097"/>
            <a:ext cx="6426203" cy="6426203"/>
            <a:chOff x="0" y="0"/>
            <a:chExt cx="8568271" cy="85682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028090">
                <a:alpha val="1961"/>
              </a:srgbClr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5532103" y="6388103"/>
            <a:ext cx="3683003" cy="3683003"/>
            <a:chOff x="0" y="0"/>
            <a:chExt cx="4910671" cy="491067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10709" cy="4910709"/>
            </a:xfrm>
            <a:custGeom>
              <a:avLst/>
              <a:gdLst/>
              <a:ahLst/>
              <a:cxnLst/>
              <a:rect r="r" b="b" t="t" l="l"/>
              <a:pathLst>
                <a:path h="4910709" w="4910709">
                  <a:moveTo>
                    <a:pt x="0" y="2455291"/>
                  </a:moveTo>
                  <a:cubicBezTo>
                    <a:pt x="0" y="1099312"/>
                    <a:pt x="1099312" y="0"/>
                    <a:pt x="2455291" y="0"/>
                  </a:cubicBezTo>
                  <a:cubicBezTo>
                    <a:pt x="3811270" y="0"/>
                    <a:pt x="4910709" y="1099312"/>
                    <a:pt x="4910709" y="2455291"/>
                  </a:cubicBezTo>
                  <a:cubicBezTo>
                    <a:pt x="4910709" y="3811270"/>
                    <a:pt x="3811397" y="4910709"/>
                    <a:pt x="2455291" y="4910709"/>
                  </a:cubicBezTo>
                  <a:cubicBezTo>
                    <a:pt x="1099185" y="4910709"/>
                    <a:pt x="0" y="3811397"/>
                    <a:pt x="0" y="2455291"/>
                  </a:cubicBezTo>
                  <a:close/>
                </a:path>
              </a:pathLst>
            </a:custGeom>
            <a:solidFill>
              <a:srgbClr val="02C39A">
                <a:alpha val="3922"/>
              </a:srgbClr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486666" y="6016752"/>
            <a:ext cx="830075" cy="830075"/>
            <a:chOff x="0" y="0"/>
            <a:chExt cx="1106767" cy="110676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BBF24">
                <a:alpha val="20000"/>
              </a:srgbClr>
            </a:solidFill>
            <a:ln w="25400" cap="sq">
              <a:solidFill>
                <a:srgbClr val="FBBF2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1030" y="1718310"/>
            <a:ext cx="5341620" cy="3147060"/>
            <a:chOff x="0" y="0"/>
            <a:chExt cx="7122160" cy="419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22160" cy="4196080"/>
            </a:xfrm>
            <a:custGeom>
              <a:avLst/>
              <a:gdLst/>
              <a:ahLst/>
              <a:cxnLst/>
              <a:rect r="r" b="b" t="t" l="l"/>
              <a:pathLst>
                <a:path h="4196080" w="71221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24675" y="0"/>
                  </a:lnTo>
                  <a:cubicBezTo>
                    <a:pt x="7033768" y="0"/>
                    <a:pt x="7122160" y="88392"/>
                    <a:pt x="7122160" y="197485"/>
                  </a:cubicBezTo>
                  <a:lnTo>
                    <a:pt x="7122160" y="3998595"/>
                  </a:lnTo>
                  <a:cubicBezTo>
                    <a:pt x="7122160" y="4107688"/>
                    <a:pt x="7033768" y="4196080"/>
                    <a:pt x="6924675" y="4196080"/>
                  </a:cubicBezTo>
                  <a:lnTo>
                    <a:pt x="197485" y="4196080"/>
                  </a:lnTo>
                  <a:cubicBezTo>
                    <a:pt x="88392" y="4196080"/>
                    <a:pt x="0" y="4107688"/>
                    <a:pt x="0" y="3998595"/>
                  </a:cubicBezTo>
                  <a:close/>
                </a:path>
              </a:pathLst>
            </a:custGeom>
            <a:solidFill>
              <a:srgbClr val="FEE2E2"/>
            </a:solidFill>
            <a:ln w="3810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1828800"/>
            <a:ext cx="5303520" cy="822960"/>
            <a:chOff x="0" y="0"/>
            <a:chExt cx="707136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071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Stockouts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1520" y="2704719"/>
            <a:ext cx="51206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Products run out unexpectedly ,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customers leave, revenue is lost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73190" y="1718310"/>
            <a:ext cx="5341620" cy="3147060"/>
            <a:chOff x="0" y="0"/>
            <a:chExt cx="7122160" cy="419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2160" cy="4196080"/>
            </a:xfrm>
            <a:custGeom>
              <a:avLst/>
              <a:gdLst/>
              <a:ahLst/>
              <a:cxnLst/>
              <a:rect r="r" b="b" t="t" l="l"/>
              <a:pathLst>
                <a:path h="4196080" w="71221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24675" y="0"/>
                  </a:lnTo>
                  <a:cubicBezTo>
                    <a:pt x="7033768" y="0"/>
                    <a:pt x="7122160" y="88392"/>
                    <a:pt x="7122160" y="197485"/>
                  </a:cubicBezTo>
                  <a:lnTo>
                    <a:pt x="7122160" y="3998595"/>
                  </a:lnTo>
                  <a:cubicBezTo>
                    <a:pt x="7122160" y="4107688"/>
                    <a:pt x="7033768" y="4196080"/>
                    <a:pt x="6924675" y="4196080"/>
                  </a:cubicBezTo>
                  <a:lnTo>
                    <a:pt x="197485" y="4196080"/>
                  </a:lnTo>
                  <a:cubicBezTo>
                    <a:pt x="88392" y="4196080"/>
                    <a:pt x="0" y="4107688"/>
                    <a:pt x="0" y="3998595"/>
                  </a:cubicBezTo>
                  <a:close/>
                </a:path>
              </a:pathLst>
            </a:custGeom>
            <a:solidFill>
              <a:srgbClr val="FEF3C7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492240" y="1828800"/>
            <a:ext cx="5303520" cy="822960"/>
            <a:chOff x="0" y="0"/>
            <a:chExt cx="70713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071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 Overstock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83680" y="2704719"/>
            <a:ext cx="51206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Excess inventory ties up capital and leads to wastage &amp; spoilage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25350" y="1718310"/>
            <a:ext cx="5341620" cy="3147060"/>
            <a:chOff x="0" y="0"/>
            <a:chExt cx="7122160" cy="419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22160" cy="4196080"/>
            </a:xfrm>
            <a:custGeom>
              <a:avLst/>
              <a:gdLst/>
              <a:ahLst/>
              <a:cxnLst/>
              <a:rect r="r" b="b" t="t" l="l"/>
              <a:pathLst>
                <a:path h="4196080" w="71221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24675" y="0"/>
                  </a:lnTo>
                  <a:cubicBezTo>
                    <a:pt x="7033768" y="0"/>
                    <a:pt x="7122160" y="88392"/>
                    <a:pt x="7122160" y="197485"/>
                  </a:cubicBezTo>
                  <a:lnTo>
                    <a:pt x="7122160" y="3998595"/>
                  </a:lnTo>
                  <a:cubicBezTo>
                    <a:pt x="7122160" y="4107688"/>
                    <a:pt x="7033768" y="4196080"/>
                    <a:pt x="6924675" y="4196080"/>
                  </a:cubicBezTo>
                  <a:lnTo>
                    <a:pt x="197485" y="4196080"/>
                  </a:lnTo>
                  <a:cubicBezTo>
                    <a:pt x="88392" y="4196080"/>
                    <a:pt x="0" y="4107688"/>
                    <a:pt x="0" y="3998595"/>
                  </a:cubicBezTo>
                  <a:close/>
                </a:path>
              </a:pathLst>
            </a:custGeom>
            <a:solidFill>
              <a:srgbClr val="D1FAF1"/>
            </a:solidFill>
            <a:ln w="381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0" y="1828800"/>
            <a:ext cx="5303520" cy="822960"/>
            <a:chOff x="0" y="0"/>
            <a:chExt cx="70713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071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No Forecasting Tool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35840" y="2704719"/>
            <a:ext cx="51206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Small kirana owners lack access to demand prediction unlike big retailers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27383" y="5199383"/>
            <a:ext cx="17033243" cy="98555"/>
            <a:chOff x="0" y="0"/>
            <a:chExt cx="22710991" cy="1314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11029" cy="131445"/>
            </a:xfrm>
            <a:custGeom>
              <a:avLst/>
              <a:gdLst/>
              <a:ahLst/>
              <a:cxnLst/>
              <a:rect r="r" b="b" t="t" l="l"/>
              <a:pathLst>
                <a:path h="131445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0080" y="5577840"/>
            <a:ext cx="2011680" cy="731520"/>
            <a:chOff x="0" y="0"/>
            <a:chExt cx="268224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82240" cy="975360"/>
            </a:xfrm>
            <a:custGeom>
              <a:avLst/>
              <a:gdLst/>
              <a:ahLst/>
              <a:cxnLst/>
              <a:rect r="r" b="b" t="t" l="l"/>
              <a:pathLst>
                <a:path h="9753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682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Goal: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51760" y="5577840"/>
            <a:ext cx="14813280" cy="731520"/>
            <a:chOff x="0" y="0"/>
            <a:chExt cx="1975104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751039" cy="975360"/>
            </a:xfrm>
            <a:custGeom>
              <a:avLst/>
              <a:gdLst/>
              <a:ahLst/>
              <a:cxnLst/>
              <a:rect r="r" b="b" t="t" l="l"/>
              <a:pathLst>
                <a:path h="9753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572" r="0" b="-3445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9751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daily product demand accurately so small retailers can manage stock better, avoid losses, and make data-driven decisions.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0080" y="6583680"/>
            <a:ext cx="16459200" cy="694944"/>
            <a:chOff x="0" y="0"/>
            <a:chExt cx="2194560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219456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0080" y="7278624"/>
            <a:ext cx="17007840" cy="2377440"/>
            <a:chOff x="0" y="0"/>
            <a:chExt cx="22677120" cy="3169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77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392" r="0" b="-8939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267712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🔵  Big retailers (Walmart, Amazon) already use sophisticated demand forecasting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🔵  Small kirana shops have zero access to such tools — huge market gap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🔵  Accurate forecasting = reduced waste + higher profit + better planning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541783"/>
            <a:ext cx="3865883" cy="2219963"/>
            <a:chOff x="0" y="0"/>
            <a:chExt cx="5154511" cy="29599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4549" cy="2959989"/>
            </a:xfrm>
            <a:custGeom>
              <a:avLst/>
              <a:gdLst/>
              <a:ahLst/>
              <a:cxnLst/>
              <a:rect r="r" b="b" t="t" l="l"/>
              <a:pathLst>
                <a:path h="2959989" w="515454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957191" y="0"/>
                  </a:lnTo>
                  <a:cubicBezTo>
                    <a:pt x="5066157" y="0"/>
                    <a:pt x="5154549" y="88392"/>
                    <a:pt x="5154549" y="197358"/>
                  </a:cubicBezTo>
                  <a:lnTo>
                    <a:pt x="5154549" y="2762631"/>
                  </a:lnTo>
                  <a:cubicBezTo>
                    <a:pt x="5154549" y="2871597"/>
                    <a:pt x="5066157" y="2959989"/>
                    <a:pt x="495719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645920"/>
            <a:ext cx="3840480" cy="1097280"/>
            <a:chOff x="0" y="0"/>
            <a:chExt cx="51206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51206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~660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2651760"/>
            <a:ext cx="3840480" cy="548640"/>
            <a:chOff x="0" y="0"/>
            <a:chExt cx="5120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Days of data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3163824"/>
            <a:ext cx="3840480" cy="457200"/>
            <a:chOff x="0" y="0"/>
            <a:chExt cx="512064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2022 – 2024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51911" y="1541783"/>
            <a:ext cx="3865883" cy="2219963"/>
            <a:chOff x="0" y="0"/>
            <a:chExt cx="5154511" cy="2959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549" cy="2959989"/>
            </a:xfrm>
            <a:custGeom>
              <a:avLst/>
              <a:gdLst/>
              <a:ahLst/>
              <a:cxnLst/>
              <a:rect r="r" b="b" t="t" l="l"/>
              <a:pathLst>
                <a:path h="2959989" w="515454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957191" y="0"/>
                  </a:lnTo>
                  <a:cubicBezTo>
                    <a:pt x="5066157" y="0"/>
                    <a:pt x="5154549" y="88392"/>
                    <a:pt x="5154549" y="197358"/>
                  </a:cubicBezTo>
                  <a:lnTo>
                    <a:pt x="5154549" y="2762631"/>
                  </a:lnTo>
                  <a:cubicBezTo>
                    <a:pt x="5154549" y="2871597"/>
                    <a:pt x="5066157" y="2959989"/>
                    <a:pt x="495719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64608" y="1645920"/>
            <a:ext cx="3840480" cy="1097280"/>
            <a:chOff x="0" y="0"/>
            <a:chExt cx="512064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51206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64608" y="2651760"/>
            <a:ext cx="3840480" cy="548640"/>
            <a:chOff x="0" y="0"/>
            <a:chExt cx="51206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Granularity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64608" y="3163824"/>
            <a:ext cx="3840480" cy="457200"/>
            <a:chOff x="0" y="0"/>
            <a:chExt cx="512064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series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67879" y="1541783"/>
            <a:ext cx="3865883" cy="2219963"/>
            <a:chOff x="0" y="0"/>
            <a:chExt cx="515451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4549" cy="2959989"/>
            </a:xfrm>
            <a:custGeom>
              <a:avLst/>
              <a:gdLst/>
              <a:ahLst/>
              <a:cxnLst/>
              <a:rect r="r" b="b" t="t" l="l"/>
              <a:pathLst>
                <a:path h="2959989" w="515454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957191" y="0"/>
                  </a:lnTo>
                  <a:cubicBezTo>
                    <a:pt x="5066157" y="0"/>
                    <a:pt x="5154549" y="88392"/>
                    <a:pt x="5154549" y="197358"/>
                  </a:cubicBezTo>
                  <a:lnTo>
                    <a:pt x="5154549" y="2762631"/>
                  </a:lnTo>
                  <a:cubicBezTo>
                    <a:pt x="5154549" y="2871597"/>
                    <a:pt x="5066157" y="2959989"/>
                    <a:pt x="495719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180576" y="1645920"/>
            <a:ext cx="3840480" cy="1097280"/>
            <a:chOff x="0" y="0"/>
            <a:chExt cx="51206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1206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70+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80576" y="2651760"/>
            <a:ext cx="3840480" cy="548640"/>
            <a:chOff x="0" y="0"/>
            <a:chExt cx="51206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 created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80576" y="3163824"/>
            <a:ext cx="3840480" cy="457200"/>
            <a:chOff x="0" y="0"/>
            <a:chExt cx="512064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engineering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83847" y="1541783"/>
            <a:ext cx="3865883" cy="2219963"/>
            <a:chOff x="0" y="0"/>
            <a:chExt cx="5154511" cy="29599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54549" cy="2959989"/>
            </a:xfrm>
            <a:custGeom>
              <a:avLst/>
              <a:gdLst/>
              <a:ahLst/>
              <a:cxnLst/>
              <a:rect r="r" b="b" t="t" l="l"/>
              <a:pathLst>
                <a:path h="2959989" w="515454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957191" y="0"/>
                  </a:lnTo>
                  <a:cubicBezTo>
                    <a:pt x="5066157" y="0"/>
                    <a:pt x="5154549" y="88392"/>
                    <a:pt x="5154549" y="197358"/>
                  </a:cubicBezTo>
                  <a:lnTo>
                    <a:pt x="5154549" y="2762631"/>
                  </a:lnTo>
                  <a:cubicBezTo>
                    <a:pt x="5154549" y="2871597"/>
                    <a:pt x="5066157" y="2959989"/>
                    <a:pt x="495719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496544" y="1645920"/>
            <a:ext cx="3840480" cy="1097280"/>
            <a:chOff x="0" y="0"/>
            <a:chExt cx="512064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51206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496544" y="2651760"/>
            <a:ext cx="3840480" cy="548640"/>
            <a:chOff x="0" y="0"/>
            <a:chExt cx="51206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days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496544" y="3163824"/>
            <a:ext cx="3840480" cy="457200"/>
            <a:chOff x="0" y="0"/>
            <a:chExt cx="512064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 10%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5943" y="4010663"/>
            <a:ext cx="8255003" cy="5511803"/>
            <a:chOff x="0" y="0"/>
            <a:chExt cx="11006671" cy="734907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00658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810621" y="0"/>
                  </a:lnTo>
                  <a:cubicBezTo>
                    <a:pt x="10918825" y="0"/>
                    <a:pt x="11006582" y="87757"/>
                    <a:pt x="11006582" y="195961"/>
                  </a:cubicBezTo>
                  <a:lnTo>
                    <a:pt x="11006582" y="7153021"/>
                  </a:lnTo>
                  <a:cubicBezTo>
                    <a:pt x="11006582" y="7261225"/>
                    <a:pt x="10918825" y="7348982"/>
                    <a:pt x="1081062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61346" y="4011425"/>
            <a:ext cx="8229600" cy="768096"/>
            <a:chOff x="0" y="0"/>
            <a:chExt cx="1097280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972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  Features Used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5029200"/>
            <a:ext cx="7498080" cy="4297680"/>
            <a:chOff x="0" y="0"/>
            <a:chExt cx="9997440" cy="5730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5730240"/>
            </a:xfrm>
            <a:custGeom>
              <a:avLst/>
              <a:gdLst/>
              <a:ahLst/>
              <a:cxnLst/>
              <a:rect r="r" b="b" t="t" l="l"/>
              <a:pathLst>
                <a:path h="57302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539" t="0" r="-2353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997440" cy="577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Lag features: lag_1, lag_7, lag_14, lag_28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Rolling stats: mean, min, max (7/10/21/28 days)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EWM (exponential weighted mean): ewm_5, ewm_7, ewm_14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Momentum features: mom_1, mom_7, mom_14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 features: day, week, month, day-of-week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Cyclical encoding (sin/cos) of day &amp; month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Season flags: Winter, Summer, Monsoon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External: avg_price, price_chg, promotion_count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avg_econ (economic index)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Holiday / festival indicator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14183" y="4010663"/>
            <a:ext cx="8346443" cy="5511803"/>
            <a:chOff x="0" y="0"/>
            <a:chExt cx="11128591" cy="73490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12850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12850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0932541" y="0"/>
                  </a:lnTo>
                  <a:cubicBezTo>
                    <a:pt x="11040745" y="0"/>
                    <a:pt x="11128502" y="87757"/>
                    <a:pt x="11128502" y="195961"/>
                  </a:cubicBezTo>
                  <a:lnTo>
                    <a:pt x="11128502" y="7153021"/>
                  </a:lnTo>
                  <a:cubicBezTo>
                    <a:pt x="11128502" y="7261225"/>
                    <a:pt x="11040745" y="7348982"/>
                    <a:pt x="1093254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326880" y="4169664"/>
            <a:ext cx="8321040" cy="768096"/>
            <a:chOff x="0" y="0"/>
            <a:chExt cx="1109472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094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10947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Target &amp; Context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692640" y="4972431"/>
            <a:ext cx="7498080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Variable: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total_demand  (units sold per day)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D1B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Split Strategy: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Time-series split (NOT random)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E74C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not random split?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Breaks time dependency → data leakage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insight: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Feature engineering converted raw time-series into a supervised ML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Visualizations Used &amp; Their Purpose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5983" y="1548127"/>
            <a:ext cx="8516617" cy="1530601"/>
            <a:chOff x="0" y="0"/>
            <a:chExt cx="11355489" cy="20408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21792" y="1645920"/>
            <a:ext cx="7955280" cy="548640"/>
            <a:chOff x="0" y="0"/>
            <a:chExt cx="1060704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Histogram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1792" y="2249424"/>
            <a:ext cx="7955280" cy="768096"/>
            <a:chOff x="0" y="0"/>
            <a:chExt cx="1060704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 the spread and skewness of demand. Mean = 36 units. Right-skewed → outlier peaks (festivals, promotions).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5983" y="3230623"/>
            <a:ext cx="8516617" cy="1530601"/>
            <a:chOff x="0" y="0"/>
            <a:chExt cx="11355489" cy="2040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21792" y="3328416"/>
            <a:ext cx="7955280" cy="548640"/>
            <a:chOff x="0" y="0"/>
            <a:chExt cx="106070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Time Series Line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1792" y="3931920"/>
            <a:ext cx="7955280" cy="768096"/>
            <a:chOff x="0" y="0"/>
            <a:chExt cx="1060704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Visualize trend over 3 years. 30-day rolling mean shows gradual increase — demand is growing over time.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5983" y="4913119"/>
            <a:ext cx="8516617" cy="1530601"/>
            <a:chOff x="0" y="0"/>
            <a:chExt cx="11355489" cy="20408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1792" y="5010912"/>
            <a:ext cx="7955280" cy="548640"/>
            <a:chOff x="0" y="0"/>
            <a:chExt cx="106070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📉 Bar Chart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1792" y="5614416"/>
            <a:ext cx="7955280" cy="768096"/>
            <a:chOff x="0" y="0"/>
            <a:chExt cx="1060704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seasonality. Wednesday is the peak day; October is the peak month — aligns with festival season.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5983" y="6595615"/>
            <a:ext cx="8516617" cy="1530601"/>
            <a:chOff x="0" y="0"/>
            <a:chExt cx="11355489" cy="20408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21792" y="6693408"/>
            <a:ext cx="7955280" cy="548640"/>
            <a:chOff x="0" y="0"/>
            <a:chExt cx="106070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🔥 Heatmap (VIF)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21792" y="7296912"/>
            <a:ext cx="7955280" cy="768096"/>
            <a:chOff x="0" y="0"/>
            <a:chExt cx="10607040" cy="1024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collinear features before modeling. EWM features show high VIF — acceptable for tree models, important to flag.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5983" y="8278111"/>
            <a:ext cx="8516617" cy="1530601"/>
            <a:chOff x="0" y="0"/>
            <a:chExt cx="11355489" cy="20408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92" y="8375904"/>
            <a:ext cx="7955280" cy="548640"/>
            <a:chOff x="0" y="0"/>
            <a:chExt cx="1060704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🧩 Prophet Component Plot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1792" y="8979408"/>
            <a:ext cx="7955280" cy="768096"/>
            <a:chOff x="0" y="0"/>
            <a:chExt cx="106070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 demand into interpretable parts. Shows long-term growth, holiday spikes, and seasonal patterns.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83951" y="1548127"/>
            <a:ext cx="8516617" cy="1530601"/>
            <a:chOff x="0" y="0"/>
            <a:chExt cx="11355489" cy="20408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0" y="1645920"/>
            <a:ext cx="7955280" cy="548640"/>
            <a:chOff x="0" y="0"/>
            <a:chExt cx="106070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Actual vs Predicted (Line)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09760" y="2249424"/>
            <a:ext cx="7955280" cy="768096"/>
            <a:chOff x="0" y="0"/>
            <a:chExt cx="1060704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Visually validate predictions. XGBoost lines closely follow actual — Prophet diverges widely.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283951" y="3230623"/>
            <a:ext cx="8516617" cy="1530601"/>
            <a:chOff x="0" y="0"/>
            <a:chExt cx="11355489" cy="20408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509760" y="3328416"/>
            <a:ext cx="7955280" cy="548640"/>
            <a:chOff x="0" y="0"/>
            <a:chExt cx="1060704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⚫ Scatter Plot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09760" y="3931920"/>
            <a:ext cx="7955280" cy="768096"/>
            <a:chOff x="0" y="0"/>
            <a:chExt cx="1060704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Points along diagonal = perfect prediction. XGBoost scatter is tightly clustered around the ideal line.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83951" y="4913119"/>
            <a:ext cx="8516617" cy="1530601"/>
            <a:chOff x="0" y="0"/>
            <a:chExt cx="11355489" cy="204080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0" y="5010912"/>
            <a:ext cx="7955280" cy="548640"/>
            <a:chOff x="0" y="0"/>
            <a:chExt cx="106070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Feature Importance Bar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09760" y="5614416"/>
            <a:ext cx="7955280" cy="768096"/>
            <a:chOff x="0" y="0"/>
            <a:chExt cx="10607040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 model decisions. n_products and promotion_count dominate — confirms business intuition.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83951" y="6595615"/>
            <a:ext cx="8516617" cy="1530601"/>
            <a:chOff x="0" y="0"/>
            <a:chExt cx="11355489" cy="204080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55578" cy="2040890"/>
            </a:xfrm>
            <a:custGeom>
              <a:avLst/>
              <a:gdLst/>
              <a:ahLst/>
              <a:cxnLst/>
              <a:rect r="r" b="b" t="t" l="l"/>
              <a:pathLst>
                <a:path h="2040890" w="11355578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11208004" y="0"/>
                  </a:lnTo>
                  <a:cubicBezTo>
                    <a:pt x="11289538" y="0"/>
                    <a:pt x="11355578" y="66040"/>
                    <a:pt x="11355578" y="147574"/>
                  </a:cubicBezTo>
                  <a:lnTo>
                    <a:pt x="11355578" y="1893316"/>
                  </a:lnTo>
                  <a:cubicBezTo>
                    <a:pt x="11355578" y="1974850"/>
                    <a:pt x="11289538" y="2040890"/>
                    <a:pt x="11208004" y="2040890"/>
                  </a:cubicBezTo>
                  <a:lnTo>
                    <a:pt x="147574" y="2040890"/>
                  </a:lnTo>
                  <a:cubicBezTo>
                    <a:pt x="66040" y="2040763"/>
                    <a:pt x="0" y="1974723"/>
                    <a:pt x="0" y="18933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509760" y="6693408"/>
            <a:ext cx="7955280" cy="548640"/>
            <a:chOff x="0" y="0"/>
            <a:chExt cx="1060704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Model Comparison Dashboard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509760" y="7296912"/>
            <a:ext cx="7955280" cy="768096"/>
            <a:chOff x="0" y="0"/>
            <a:chExt cx="10607040" cy="102412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07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6070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all models in one view. XGBoost and LightGBM clearly outperform Prophet and baseline.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 (EDA)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1499616"/>
            <a:ext cx="17373600" cy="4206240"/>
            <a:chOff x="0" y="0"/>
            <a:chExt cx="23164800" cy="5608320"/>
          </a:xfrm>
        </p:grpSpPr>
        <p:sp>
          <p:nvSpPr>
            <p:cNvPr name="Freeform 8" id="8" descr="/home/claude/ppt_project/img1_eda_patterns.png"/>
            <p:cNvSpPr/>
            <p:nvPr/>
          </p:nvSpPr>
          <p:spPr>
            <a:xfrm flipH="false" flipV="false" rot="0">
              <a:off x="0" y="0"/>
              <a:ext cx="231648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608320"/>
                  </a:lnTo>
                  <a:lnTo>
                    <a:pt x="0" y="560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162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5888736"/>
            <a:ext cx="17373600" cy="3566160"/>
            <a:chOff x="0" y="0"/>
            <a:chExt cx="23164800" cy="4754880"/>
          </a:xfrm>
        </p:grpSpPr>
        <p:sp>
          <p:nvSpPr>
            <p:cNvPr name="Freeform 10" id="10" descr="/home/claude/ppt_project/img2_daily_demand.png"/>
            <p:cNvSpPr/>
            <p:nvPr/>
          </p:nvSpPr>
          <p:spPr>
            <a:xfrm flipH="false" flipV="false" rot="0">
              <a:off x="0" y="0"/>
              <a:ext cx="23164800" cy="4754880"/>
            </a:xfrm>
            <a:custGeom>
              <a:avLst/>
              <a:gdLst/>
              <a:ahLst/>
              <a:cxnLst/>
              <a:rect r="r" b="b" t="t" l="l"/>
              <a:pathLst>
                <a:path h="47548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754880"/>
                  </a:lnTo>
                  <a:lnTo>
                    <a:pt x="0" y="4754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096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200" y="9656064"/>
            <a:ext cx="17373600" cy="548640"/>
            <a:chOff x="0" y="0"/>
            <a:chExt cx="23164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164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Peak day: Wednesday  |  Peak month: October  |  Mean daily demand: 36 units  |  Clear upward trend in rolling mean across 3 years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VIF — Multicollinearity Check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499616"/>
            <a:ext cx="10607040" cy="8321040"/>
            <a:chOff x="0" y="0"/>
            <a:chExt cx="14142720" cy="11094720"/>
          </a:xfrm>
        </p:grpSpPr>
        <p:sp>
          <p:nvSpPr>
            <p:cNvPr name="Freeform 8" id="8" descr="/home/claude/ppt_project/img3_vif.png"/>
            <p:cNvSpPr/>
            <p:nvPr/>
          </p:nvSpPr>
          <p:spPr>
            <a:xfrm flipH="false" flipV="false" rot="0">
              <a:off x="0" y="0"/>
              <a:ext cx="1414272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1094720"/>
                  </a:lnTo>
                  <a:lnTo>
                    <a:pt x="0" y="1109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2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08743" y="1633223"/>
            <a:ext cx="6334763" cy="8255003"/>
            <a:chOff x="0" y="0"/>
            <a:chExt cx="8446351" cy="11006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46262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8446262">
                  <a:moveTo>
                    <a:pt x="0" y="195834"/>
                  </a:moveTo>
                  <a:cubicBezTo>
                    <a:pt x="0" y="87757"/>
                    <a:pt x="87757" y="0"/>
                    <a:pt x="195834" y="0"/>
                  </a:cubicBezTo>
                  <a:lnTo>
                    <a:pt x="8250428" y="0"/>
                  </a:lnTo>
                  <a:cubicBezTo>
                    <a:pt x="8358632" y="0"/>
                    <a:pt x="8446262" y="87757"/>
                    <a:pt x="8446262" y="195834"/>
                  </a:cubicBezTo>
                  <a:lnTo>
                    <a:pt x="8446262" y="10810748"/>
                  </a:lnTo>
                  <a:cubicBezTo>
                    <a:pt x="8446262" y="10918952"/>
                    <a:pt x="8358505" y="11006582"/>
                    <a:pt x="8250428" y="11006582"/>
                  </a:cubicBezTo>
                  <a:lnTo>
                    <a:pt x="195834" y="11006582"/>
                  </a:lnTo>
                  <a:cubicBezTo>
                    <a:pt x="87757" y="11006709"/>
                    <a:pt x="0" y="10918952"/>
                    <a:pt x="0" y="1081074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521440" y="1792224"/>
            <a:ext cx="6309360" cy="731520"/>
            <a:chOff x="0" y="0"/>
            <a:chExt cx="841248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12480" cy="975360"/>
            </a:xfrm>
            <a:custGeom>
              <a:avLst/>
              <a:gdLst/>
              <a:ahLst/>
              <a:cxnLst/>
              <a:rect r="r" b="b" t="t" l="l"/>
              <a:pathLst>
                <a:path h="9753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4124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95760" y="2743200"/>
            <a:ext cx="5852160" cy="512064"/>
            <a:chOff x="0" y="0"/>
            <a:chExt cx="78028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02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VIF features: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95760" y="3236976"/>
            <a:ext cx="5852160" cy="694944"/>
            <a:chOff x="0" y="0"/>
            <a:chExt cx="780288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802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ewm_7 and ewm_14 show VIF &gt; 1000 — extreme collinearity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95760" y="4096512"/>
            <a:ext cx="5852160" cy="512064"/>
            <a:chOff x="0" y="0"/>
            <a:chExt cx="78028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802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it's fine here: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95760" y="4590288"/>
            <a:ext cx="5852160" cy="694944"/>
            <a:chOff x="0" y="0"/>
            <a:chExt cx="78028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802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Tree-based models (XGBoost, LightGBM) are immune to multicollinearity — they split on single features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95760" y="5449824"/>
            <a:ext cx="5852160" cy="512064"/>
            <a:chOff x="0" y="0"/>
            <a:chExt cx="78028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802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VIF matters only for: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95760" y="5943600"/>
            <a:ext cx="5852160" cy="694944"/>
            <a:chOff x="0" y="0"/>
            <a:chExt cx="78028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802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models like OLS regression — NOT our final model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95760" y="6803136"/>
            <a:ext cx="5852160" cy="512064"/>
            <a:chOff x="0" y="0"/>
            <a:chExt cx="780288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802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Low-VIF features: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95760" y="7296912"/>
            <a:ext cx="5852160" cy="694944"/>
            <a:chOff x="0" y="0"/>
            <a:chExt cx="780288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802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festival, holiday, promotion_count, is_weekend — truly independent signals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795760" y="8156448"/>
            <a:ext cx="5852160" cy="512064"/>
            <a:chOff x="0" y="0"/>
            <a:chExt cx="78028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802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795760" y="8650224"/>
            <a:ext cx="5852160" cy="694944"/>
            <a:chOff x="0" y="0"/>
            <a:chExt cx="78028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802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VIF is acceptable here. All features were retained for tree models.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 Used &amp; Why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2811" y="1544955"/>
            <a:ext cx="3128010" cy="8340090"/>
            <a:chOff x="0" y="0"/>
            <a:chExt cx="4170680" cy="11120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0680" cy="11120120"/>
            </a:xfrm>
            <a:custGeom>
              <a:avLst/>
              <a:gdLst/>
              <a:ahLst/>
              <a:cxnLst/>
              <a:rect r="r" b="b" t="t" l="l"/>
              <a:pathLst>
                <a:path h="11120120" w="417068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3974465" y="0"/>
                  </a:lnTo>
                  <a:cubicBezTo>
                    <a:pt x="4082923" y="0"/>
                    <a:pt x="4170680" y="87884"/>
                    <a:pt x="4170680" y="196215"/>
                  </a:cubicBezTo>
                  <a:lnTo>
                    <a:pt x="4170680" y="10923905"/>
                  </a:lnTo>
                  <a:cubicBezTo>
                    <a:pt x="4170680" y="11032363"/>
                    <a:pt x="4082796" y="11120120"/>
                    <a:pt x="3974465" y="11120120"/>
                  </a:cubicBezTo>
                  <a:lnTo>
                    <a:pt x="196215" y="11120120"/>
                  </a:lnTo>
                  <a:cubicBezTo>
                    <a:pt x="87884" y="11120120"/>
                    <a:pt x="0" y="11032236"/>
                    <a:pt x="0" y="109239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02336" y="1682496"/>
            <a:ext cx="3108960" cy="768096"/>
            <a:chOff x="0" y="0"/>
            <a:chExt cx="414528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145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🔮 Prophet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2519" y="2511047"/>
            <a:ext cx="2768603" cy="574043"/>
            <a:chOff x="0" y="0"/>
            <a:chExt cx="3691471" cy="7653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91382" cy="765302"/>
            </a:xfrm>
            <a:custGeom>
              <a:avLst/>
              <a:gdLst/>
              <a:ahLst/>
              <a:cxnLst/>
              <a:rect r="r" b="b" t="t" l="l"/>
              <a:pathLst>
                <a:path h="765302" w="369138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563874" y="0"/>
                  </a:lnTo>
                  <a:cubicBezTo>
                    <a:pt x="3634359" y="0"/>
                    <a:pt x="3691382" y="57150"/>
                    <a:pt x="3691382" y="127508"/>
                  </a:cubicBezTo>
                  <a:lnTo>
                    <a:pt x="3691382" y="637794"/>
                  </a:lnTo>
                  <a:cubicBezTo>
                    <a:pt x="3691382" y="708279"/>
                    <a:pt x="3634232" y="765302"/>
                    <a:pt x="356387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FEF3C7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2523744"/>
            <a:ext cx="2743200" cy="548640"/>
            <a:chOff x="0" y="0"/>
            <a:chExt cx="3657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3255264"/>
            <a:ext cx="3108960" cy="512064"/>
            <a:chOff x="0" y="0"/>
            <a:chExt cx="41452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Pros: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5216" y="3803904"/>
            <a:ext cx="2743200" cy="1975104"/>
            <a:chOff x="0" y="0"/>
            <a:chExt cx="3657600" cy="2633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57600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trend + seasonality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Easy to interpret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for quick baseline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5888736"/>
            <a:ext cx="3108960" cy="512064"/>
            <a:chOff x="0" y="0"/>
            <a:chExt cx="41452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Cons: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5216" y="6437376"/>
            <a:ext cx="2743200" cy="1975104"/>
            <a:chOff x="0" y="0"/>
            <a:chExt cx="3657600" cy="26334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657600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Cannot use external features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MAE (22)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Negative R²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22395" y="1544955"/>
            <a:ext cx="3128010" cy="8340090"/>
            <a:chOff x="0" y="0"/>
            <a:chExt cx="4170680" cy="11120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0680" cy="11120120"/>
            </a:xfrm>
            <a:custGeom>
              <a:avLst/>
              <a:gdLst/>
              <a:ahLst/>
              <a:cxnLst/>
              <a:rect r="r" b="b" t="t" l="l"/>
              <a:pathLst>
                <a:path h="11120120" w="417068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3974465" y="0"/>
                  </a:lnTo>
                  <a:cubicBezTo>
                    <a:pt x="4082923" y="0"/>
                    <a:pt x="4170680" y="87884"/>
                    <a:pt x="4170680" y="196215"/>
                  </a:cubicBezTo>
                  <a:lnTo>
                    <a:pt x="4170680" y="10923905"/>
                  </a:lnTo>
                  <a:cubicBezTo>
                    <a:pt x="4170680" y="11032363"/>
                    <a:pt x="4082796" y="11120120"/>
                    <a:pt x="3974465" y="11120120"/>
                  </a:cubicBezTo>
                  <a:lnTo>
                    <a:pt x="196215" y="11120120"/>
                  </a:lnTo>
                  <a:cubicBezTo>
                    <a:pt x="87884" y="11120120"/>
                    <a:pt x="0" y="11032236"/>
                    <a:pt x="0" y="109239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931920" y="1682496"/>
            <a:ext cx="3108960" cy="768096"/>
            <a:chOff x="0" y="0"/>
            <a:chExt cx="4145280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145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LSTM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102103" y="2511047"/>
            <a:ext cx="2768603" cy="574043"/>
            <a:chOff x="0" y="0"/>
            <a:chExt cx="3691471" cy="7653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91382" cy="765302"/>
            </a:xfrm>
            <a:custGeom>
              <a:avLst/>
              <a:gdLst/>
              <a:ahLst/>
              <a:cxnLst/>
              <a:rect r="r" b="b" t="t" l="l"/>
              <a:pathLst>
                <a:path h="765302" w="369138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563874" y="0"/>
                  </a:lnTo>
                  <a:cubicBezTo>
                    <a:pt x="3634359" y="0"/>
                    <a:pt x="3691382" y="57150"/>
                    <a:pt x="3691382" y="127508"/>
                  </a:cubicBezTo>
                  <a:lnTo>
                    <a:pt x="3691382" y="637794"/>
                  </a:lnTo>
                  <a:cubicBezTo>
                    <a:pt x="3691382" y="708279"/>
                    <a:pt x="3634232" y="765302"/>
                    <a:pt x="356387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FEE2E2"/>
            </a:solidFill>
            <a:ln w="2540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114800" y="2523744"/>
            <a:ext cx="2743200" cy="548640"/>
            <a:chOff x="0" y="0"/>
            <a:chExt cx="3657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Dropped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31920" y="3255264"/>
            <a:ext cx="3108960" cy="512064"/>
            <a:chOff x="0" y="0"/>
            <a:chExt cx="414528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Pros: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14800" y="3803904"/>
            <a:ext cx="2743200" cy="1316736"/>
            <a:chOff x="0" y="0"/>
            <a:chExt cx="3657600" cy="17556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657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 learning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patterns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5193792"/>
            <a:ext cx="3108960" cy="512064"/>
            <a:chOff x="0" y="0"/>
            <a:chExt cx="41452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Cons: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14800" y="5742432"/>
            <a:ext cx="2743200" cy="2633472"/>
            <a:chOff x="0" y="0"/>
            <a:chExt cx="3657600" cy="3511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3511296"/>
            </a:xfrm>
            <a:custGeom>
              <a:avLst/>
              <a:gdLst/>
              <a:ahLst/>
              <a:cxnLst/>
              <a:rect r="r" b="b" t="t" l="l"/>
              <a:pathLst>
                <a:path h="3511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11296"/>
                  </a:lnTo>
                  <a:lnTo>
                    <a:pt x="0" y="351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657600" cy="354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large dataset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Overfitting risk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MAE (16)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Slow to train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51979" y="1544955"/>
            <a:ext cx="3128010" cy="8340090"/>
            <a:chOff x="0" y="0"/>
            <a:chExt cx="4170680" cy="11120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70680" cy="11120120"/>
            </a:xfrm>
            <a:custGeom>
              <a:avLst/>
              <a:gdLst/>
              <a:ahLst/>
              <a:cxnLst/>
              <a:rect r="r" b="b" t="t" l="l"/>
              <a:pathLst>
                <a:path h="11120120" w="417068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3974465" y="0"/>
                  </a:lnTo>
                  <a:cubicBezTo>
                    <a:pt x="4082923" y="0"/>
                    <a:pt x="4170680" y="87884"/>
                    <a:pt x="4170680" y="196215"/>
                  </a:cubicBezTo>
                  <a:lnTo>
                    <a:pt x="4170680" y="10923905"/>
                  </a:lnTo>
                  <a:cubicBezTo>
                    <a:pt x="4170680" y="11032363"/>
                    <a:pt x="4082796" y="11120120"/>
                    <a:pt x="3974465" y="11120120"/>
                  </a:cubicBezTo>
                  <a:lnTo>
                    <a:pt x="196215" y="11120120"/>
                  </a:lnTo>
                  <a:cubicBezTo>
                    <a:pt x="87884" y="11120120"/>
                    <a:pt x="0" y="11032236"/>
                    <a:pt x="0" y="109239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461504" y="1682496"/>
            <a:ext cx="3108960" cy="768096"/>
            <a:chOff x="0" y="0"/>
            <a:chExt cx="414528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145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XGBoost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31687" y="2511047"/>
            <a:ext cx="2768603" cy="574043"/>
            <a:chOff x="0" y="0"/>
            <a:chExt cx="3691471" cy="7653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91382" cy="765302"/>
            </a:xfrm>
            <a:custGeom>
              <a:avLst/>
              <a:gdLst/>
              <a:ahLst/>
              <a:cxnLst/>
              <a:rect r="r" b="b" t="t" l="l"/>
              <a:pathLst>
                <a:path h="765302" w="369138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563874" y="0"/>
                  </a:lnTo>
                  <a:cubicBezTo>
                    <a:pt x="3634359" y="0"/>
                    <a:pt x="3691382" y="57150"/>
                    <a:pt x="3691382" y="127508"/>
                  </a:cubicBezTo>
                  <a:lnTo>
                    <a:pt x="3691382" y="637794"/>
                  </a:lnTo>
                  <a:cubicBezTo>
                    <a:pt x="3691382" y="708279"/>
                    <a:pt x="3634232" y="765302"/>
                    <a:pt x="356387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DCFCE7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644384" y="2523744"/>
            <a:ext cx="2743200" cy="548640"/>
            <a:chOff x="0" y="0"/>
            <a:chExt cx="365760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Final Model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461504" y="3255264"/>
            <a:ext cx="3108960" cy="512064"/>
            <a:chOff x="0" y="0"/>
            <a:chExt cx="414528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Pros: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644384" y="3803904"/>
            <a:ext cx="2743200" cy="2633472"/>
            <a:chOff x="0" y="0"/>
            <a:chExt cx="3657600" cy="3511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3511296"/>
            </a:xfrm>
            <a:custGeom>
              <a:avLst/>
              <a:gdLst/>
              <a:ahLst/>
              <a:cxnLst/>
              <a:rect r="r" b="b" t="t" l="l"/>
              <a:pathLst>
                <a:path h="35112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11296"/>
                  </a:lnTo>
                  <a:lnTo>
                    <a:pt x="0" y="3511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1" t="0" r="-7317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657600" cy="354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all 70+ features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Lowest MAE (7.0)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= 0.809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&amp; reliable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461504" y="6583680"/>
            <a:ext cx="3108960" cy="512064"/>
            <a:chOff x="0" y="0"/>
            <a:chExt cx="414528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Cons: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644384" y="7132320"/>
            <a:ext cx="2743200" cy="658368"/>
            <a:chOff x="0" y="0"/>
            <a:chExt cx="3657600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feature engineering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81563" y="1544955"/>
            <a:ext cx="3128010" cy="8340090"/>
            <a:chOff x="0" y="0"/>
            <a:chExt cx="4170680" cy="111201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70680" cy="11120120"/>
            </a:xfrm>
            <a:custGeom>
              <a:avLst/>
              <a:gdLst/>
              <a:ahLst/>
              <a:cxnLst/>
              <a:rect r="r" b="b" t="t" l="l"/>
              <a:pathLst>
                <a:path h="11120120" w="417068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3974465" y="0"/>
                  </a:lnTo>
                  <a:cubicBezTo>
                    <a:pt x="4082923" y="0"/>
                    <a:pt x="4170680" y="87884"/>
                    <a:pt x="4170680" y="196215"/>
                  </a:cubicBezTo>
                  <a:lnTo>
                    <a:pt x="4170680" y="10923905"/>
                  </a:lnTo>
                  <a:cubicBezTo>
                    <a:pt x="4170680" y="11032363"/>
                    <a:pt x="4082796" y="11120120"/>
                    <a:pt x="3974465" y="11120120"/>
                  </a:cubicBezTo>
                  <a:lnTo>
                    <a:pt x="196215" y="11120120"/>
                  </a:lnTo>
                  <a:cubicBezTo>
                    <a:pt x="87884" y="11120120"/>
                    <a:pt x="0" y="11032236"/>
                    <a:pt x="0" y="109239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991088" y="1682496"/>
            <a:ext cx="3108960" cy="768096"/>
            <a:chOff x="0" y="0"/>
            <a:chExt cx="4145280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4145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🌿 LightGBM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61271" y="2511047"/>
            <a:ext cx="2768603" cy="574043"/>
            <a:chOff x="0" y="0"/>
            <a:chExt cx="3691471" cy="76539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91382" cy="765302"/>
            </a:xfrm>
            <a:custGeom>
              <a:avLst/>
              <a:gdLst/>
              <a:ahLst/>
              <a:cxnLst/>
              <a:rect r="r" b="b" t="t" l="l"/>
              <a:pathLst>
                <a:path h="765302" w="369138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563874" y="0"/>
                  </a:lnTo>
                  <a:cubicBezTo>
                    <a:pt x="3634359" y="0"/>
                    <a:pt x="3691382" y="57150"/>
                    <a:pt x="3691382" y="127508"/>
                  </a:cubicBezTo>
                  <a:lnTo>
                    <a:pt x="3691382" y="637794"/>
                  </a:lnTo>
                  <a:cubicBezTo>
                    <a:pt x="3691382" y="708279"/>
                    <a:pt x="3634232" y="765302"/>
                    <a:pt x="356387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D1FAF1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173968" y="2523744"/>
            <a:ext cx="2743200" cy="548640"/>
            <a:chOff x="0" y="0"/>
            <a:chExt cx="36576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Runner-up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991088" y="3255264"/>
            <a:ext cx="3108960" cy="512064"/>
            <a:chOff x="0" y="0"/>
            <a:chExt cx="414528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Pros: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173968" y="3803904"/>
            <a:ext cx="2743200" cy="1975104"/>
            <a:chOff x="0" y="0"/>
            <a:chExt cx="3657600" cy="26334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33472"/>
                  </a:lnTo>
                  <a:lnTo>
                    <a:pt x="0" y="2633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378" t="0" r="-42378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657600" cy="2671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than XGBoost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(7.0) similar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= 0.815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991088" y="5888736"/>
            <a:ext cx="3108960" cy="512064"/>
            <a:chOff x="0" y="0"/>
            <a:chExt cx="414528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Cons: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173968" y="6437376"/>
            <a:ext cx="2743200" cy="658368"/>
            <a:chOff x="0" y="0"/>
            <a:chExt cx="3657600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877824"/>
            </a:xfrm>
            <a:custGeom>
              <a:avLst/>
              <a:gdLst/>
              <a:ahLst/>
              <a:cxnLst/>
              <a:rect r="r" b="b" t="t" l="l"/>
              <a:pathLst>
                <a:path h="87782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6576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Slightly higher RMSE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511147" y="1544955"/>
            <a:ext cx="3128010" cy="8340090"/>
            <a:chOff x="0" y="0"/>
            <a:chExt cx="4170680" cy="111201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70680" cy="11120120"/>
            </a:xfrm>
            <a:custGeom>
              <a:avLst/>
              <a:gdLst/>
              <a:ahLst/>
              <a:cxnLst/>
              <a:rect r="r" b="b" t="t" l="l"/>
              <a:pathLst>
                <a:path h="11120120" w="4170680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3974465" y="0"/>
                  </a:lnTo>
                  <a:cubicBezTo>
                    <a:pt x="4082923" y="0"/>
                    <a:pt x="4170680" y="87884"/>
                    <a:pt x="4170680" y="196215"/>
                  </a:cubicBezTo>
                  <a:lnTo>
                    <a:pt x="4170680" y="10923905"/>
                  </a:lnTo>
                  <a:cubicBezTo>
                    <a:pt x="4170680" y="11032363"/>
                    <a:pt x="4082796" y="11120120"/>
                    <a:pt x="3974465" y="11120120"/>
                  </a:cubicBezTo>
                  <a:lnTo>
                    <a:pt x="196215" y="11120120"/>
                  </a:lnTo>
                  <a:cubicBezTo>
                    <a:pt x="87884" y="11120120"/>
                    <a:pt x="0" y="11032236"/>
                    <a:pt x="0" y="1092390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4520672" y="1682496"/>
            <a:ext cx="3108960" cy="768096"/>
            <a:chOff x="0" y="0"/>
            <a:chExt cx="414528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4145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Ensemble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690855" y="2511047"/>
            <a:ext cx="2768603" cy="574043"/>
            <a:chOff x="0" y="0"/>
            <a:chExt cx="3691471" cy="76539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91382" cy="765302"/>
            </a:xfrm>
            <a:custGeom>
              <a:avLst/>
              <a:gdLst/>
              <a:ahLst/>
              <a:cxnLst/>
              <a:rect r="r" b="b" t="t" l="l"/>
              <a:pathLst>
                <a:path h="765302" w="3691382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3563874" y="0"/>
                  </a:lnTo>
                  <a:cubicBezTo>
                    <a:pt x="3634359" y="0"/>
                    <a:pt x="3691382" y="57150"/>
                    <a:pt x="3691382" y="127508"/>
                  </a:cubicBezTo>
                  <a:lnTo>
                    <a:pt x="3691382" y="637794"/>
                  </a:lnTo>
                  <a:cubicBezTo>
                    <a:pt x="3691382" y="708279"/>
                    <a:pt x="3634232" y="765302"/>
                    <a:pt x="3563874" y="765302"/>
                  </a:cubicBezTo>
                  <a:lnTo>
                    <a:pt x="127508" y="765302"/>
                  </a:lnTo>
                  <a:cubicBezTo>
                    <a:pt x="57150" y="765429"/>
                    <a:pt x="0" y="708279"/>
                    <a:pt x="0" y="637794"/>
                  </a:cubicBez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703552" y="2523744"/>
            <a:ext cx="2743200" cy="548640"/>
            <a:chOff x="0" y="0"/>
            <a:chExt cx="3657600" cy="7315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Tested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520672" y="3255264"/>
            <a:ext cx="3108960" cy="512064"/>
            <a:chOff x="0" y="0"/>
            <a:chExt cx="414528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Pros: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703552" y="3803904"/>
            <a:ext cx="2743200" cy="1316736"/>
            <a:chOff x="0" y="0"/>
            <a:chExt cx="3657600" cy="17556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57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3657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average of models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Tested thoroughly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520672" y="5193792"/>
            <a:ext cx="3108960" cy="512064"/>
            <a:chOff x="0" y="0"/>
            <a:chExt cx="414528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Cons: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703552" y="5742432"/>
            <a:ext cx="2743200" cy="1316736"/>
            <a:chOff x="0" y="0"/>
            <a:chExt cx="3657600" cy="17556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657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365760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Did NOT outperform XGBoost alone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 7.74 — higher than base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48640" y="9546336"/>
            <a:ext cx="17190720" cy="548640"/>
            <a:chOff x="0" y="0"/>
            <a:chExt cx="2292096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22920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02809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 "Tree-based models outperform deep learning when data is structured and feature-rich — small datasets hurt LSTM most."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Metrics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8150" y="1535430"/>
            <a:ext cx="8359140" cy="3878580"/>
            <a:chOff x="0" y="0"/>
            <a:chExt cx="11145520" cy="5171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4552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145520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948543" y="0"/>
                  </a:lnTo>
                  <a:cubicBezTo>
                    <a:pt x="11057382" y="0"/>
                    <a:pt x="11145520" y="88265"/>
                    <a:pt x="11145520" y="196977"/>
                  </a:cubicBezTo>
                  <a:lnTo>
                    <a:pt x="11145520" y="4974463"/>
                  </a:lnTo>
                  <a:cubicBezTo>
                    <a:pt x="11145520" y="5083302"/>
                    <a:pt x="11057255" y="5171440"/>
                    <a:pt x="10948543" y="5171440"/>
                  </a:cubicBezTo>
                  <a:lnTo>
                    <a:pt x="196977" y="5171440"/>
                  </a:lnTo>
                  <a:cubicBezTo>
                    <a:pt x="88265" y="5171440"/>
                    <a:pt x="0" y="5083175"/>
                    <a:pt x="0" y="4974463"/>
                  </a:cubicBezTo>
                  <a:close/>
                </a:path>
              </a:pathLst>
            </a:custGeom>
            <a:solidFill>
              <a:srgbClr val="E0F4F6"/>
            </a:solidFill>
            <a:ln w="381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63959" y="1724663"/>
            <a:ext cx="1342139" cy="793499"/>
            <a:chOff x="0" y="0"/>
            <a:chExt cx="1789519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943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78943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638300" y="0"/>
                  </a:lnTo>
                  <a:cubicBezTo>
                    <a:pt x="1721739" y="0"/>
                    <a:pt x="1789430" y="67691"/>
                    <a:pt x="1789430" y="151130"/>
                  </a:cubicBezTo>
                  <a:lnTo>
                    <a:pt x="1789430" y="906780"/>
                  </a:lnTo>
                  <a:cubicBezTo>
                    <a:pt x="1789430" y="990219"/>
                    <a:pt x="1721739" y="1057910"/>
                    <a:pt x="163830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76656" y="1737360"/>
            <a:ext cx="1316736" cy="768096"/>
            <a:chOff x="0" y="0"/>
            <a:chExt cx="175564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5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5564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94560" y="1810512"/>
            <a:ext cx="6217920" cy="658368"/>
            <a:chOff x="0" y="0"/>
            <a:chExt cx="829056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877824"/>
            </a:xfrm>
            <a:custGeom>
              <a:avLst/>
              <a:gdLst/>
              <a:ahLst/>
              <a:cxnLst/>
              <a:rect r="r" b="b" t="t" l="l"/>
              <a:pathLst>
                <a:path h="87782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90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 Absolute Error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2688336"/>
            <a:ext cx="7680960" cy="585216"/>
            <a:chOff x="0" y="0"/>
            <a:chExt cx="1024128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 i="true">
                  <a:solidFill>
                    <a:srgbClr val="1E293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Formula: Avg( |y − ŷ| 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3310128"/>
            <a:ext cx="7680960" cy="1024128"/>
            <a:chOff x="0" y="0"/>
            <a:chExt cx="10241280" cy="1365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error in units. MAE = 7 means off by 7 units on average.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443984"/>
            <a:ext cx="7680960" cy="731520"/>
            <a:chOff x="0" y="0"/>
            <a:chExt cx="1024128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 is better  |  Most business-friendly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99270" y="1535430"/>
            <a:ext cx="8359140" cy="3878580"/>
            <a:chOff x="0" y="0"/>
            <a:chExt cx="11145520" cy="5171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4552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145520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948543" y="0"/>
                  </a:lnTo>
                  <a:cubicBezTo>
                    <a:pt x="11057382" y="0"/>
                    <a:pt x="11145520" y="88265"/>
                    <a:pt x="11145520" y="196977"/>
                  </a:cubicBezTo>
                  <a:lnTo>
                    <a:pt x="11145520" y="4974463"/>
                  </a:lnTo>
                  <a:cubicBezTo>
                    <a:pt x="11145520" y="5083302"/>
                    <a:pt x="11057255" y="5171440"/>
                    <a:pt x="10948543" y="5171440"/>
                  </a:cubicBezTo>
                  <a:lnTo>
                    <a:pt x="196977" y="5171440"/>
                  </a:lnTo>
                  <a:cubicBezTo>
                    <a:pt x="88265" y="5171440"/>
                    <a:pt x="0" y="5083175"/>
                    <a:pt x="0" y="4974463"/>
                  </a:cubicBezTo>
                  <a:close/>
                </a:path>
              </a:pathLst>
            </a:custGeom>
            <a:solidFill>
              <a:srgbClr val="FEF3C7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25079" y="1724663"/>
            <a:ext cx="1342139" cy="793499"/>
            <a:chOff x="0" y="0"/>
            <a:chExt cx="1789519" cy="10579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8943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78943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638300" y="0"/>
                  </a:lnTo>
                  <a:cubicBezTo>
                    <a:pt x="1721739" y="0"/>
                    <a:pt x="1789430" y="67691"/>
                    <a:pt x="1789430" y="151130"/>
                  </a:cubicBezTo>
                  <a:lnTo>
                    <a:pt x="1789430" y="906780"/>
                  </a:lnTo>
                  <a:cubicBezTo>
                    <a:pt x="1789430" y="990219"/>
                    <a:pt x="1721739" y="1057910"/>
                    <a:pt x="163830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37776" y="1737360"/>
            <a:ext cx="1316736" cy="768096"/>
            <a:chOff x="0" y="0"/>
            <a:chExt cx="175564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55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75564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RMSE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55680" y="1810512"/>
            <a:ext cx="6217920" cy="658368"/>
            <a:chOff x="0" y="0"/>
            <a:chExt cx="8290560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90560" cy="877824"/>
            </a:xfrm>
            <a:custGeom>
              <a:avLst/>
              <a:gdLst/>
              <a:ahLst/>
              <a:cxnLst/>
              <a:rect r="r" b="b" t="t" l="l"/>
              <a:pathLst>
                <a:path h="87782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290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Mean Square Error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92640" y="2688336"/>
            <a:ext cx="7680960" cy="585216"/>
            <a:chOff x="0" y="0"/>
            <a:chExt cx="1024128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 i="true">
                  <a:solidFill>
                    <a:srgbClr val="1E293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Formula: √( Avg( (y − ŷ)² ) 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640" y="3310128"/>
            <a:ext cx="7680960" cy="1024128"/>
            <a:chOff x="0" y="0"/>
            <a:chExt cx="10241280" cy="1365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24128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Penalizes large errors more. Sensitive to outliers &amp; peak demand spikes.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92640" y="4443984"/>
            <a:ext cx="7680960" cy="731520"/>
            <a:chOff x="0" y="0"/>
            <a:chExt cx="1024128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 is better  |  Catches big misses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38150" y="5705094"/>
            <a:ext cx="8359140" cy="3878580"/>
            <a:chOff x="0" y="0"/>
            <a:chExt cx="11145520" cy="5171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4552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145520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948543" y="0"/>
                  </a:lnTo>
                  <a:cubicBezTo>
                    <a:pt x="11057382" y="0"/>
                    <a:pt x="11145520" y="88265"/>
                    <a:pt x="11145520" y="196977"/>
                  </a:cubicBezTo>
                  <a:lnTo>
                    <a:pt x="11145520" y="4974463"/>
                  </a:lnTo>
                  <a:cubicBezTo>
                    <a:pt x="11145520" y="5083302"/>
                    <a:pt x="11057255" y="5171440"/>
                    <a:pt x="10948543" y="5171440"/>
                  </a:cubicBezTo>
                  <a:lnTo>
                    <a:pt x="196977" y="5171440"/>
                  </a:lnTo>
                  <a:cubicBezTo>
                    <a:pt x="88265" y="5171440"/>
                    <a:pt x="0" y="5083175"/>
                    <a:pt x="0" y="4974463"/>
                  </a:cubicBezTo>
                  <a:close/>
                </a:path>
              </a:pathLst>
            </a:custGeom>
            <a:solidFill>
              <a:srgbClr val="DCFCE7"/>
            </a:solidFill>
            <a:ln w="381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63959" y="5894327"/>
            <a:ext cx="1342139" cy="793499"/>
            <a:chOff x="0" y="0"/>
            <a:chExt cx="1789519" cy="1057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8943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78943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638300" y="0"/>
                  </a:lnTo>
                  <a:cubicBezTo>
                    <a:pt x="1721739" y="0"/>
                    <a:pt x="1789430" y="67691"/>
                    <a:pt x="1789430" y="151130"/>
                  </a:cubicBezTo>
                  <a:lnTo>
                    <a:pt x="1789430" y="906780"/>
                  </a:lnTo>
                  <a:cubicBezTo>
                    <a:pt x="1789430" y="990219"/>
                    <a:pt x="1721739" y="1057910"/>
                    <a:pt x="163830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76656" y="5907024"/>
            <a:ext cx="1316736" cy="768096"/>
            <a:chOff x="0" y="0"/>
            <a:chExt cx="1755648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55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75564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194560" y="5980176"/>
            <a:ext cx="6217920" cy="658368"/>
            <a:chOff x="0" y="0"/>
            <a:chExt cx="8290560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90560" cy="877824"/>
            </a:xfrm>
            <a:custGeom>
              <a:avLst/>
              <a:gdLst/>
              <a:ahLst/>
              <a:cxnLst/>
              <a:rect r="r" b="b" t="t" l="l"/>
              <a:pathLst>
                <a:path h="87782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290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R-Squared (Coefficient of Det.)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1520" y="6858000"/>
            <a:ext cx="7680960" cy="585216"/>
            <a:chOff x="0" y="0"/>
            <a:chExt cx="1024128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 i="true">
                  <a:solidFill>
                    <a:srgbClr val="1E293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Formula: 1 − Σ(y−ŷ)² / Σ(y−ȳ)²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1520" y="7479792"/>
            <a:ext cx="7680960" cy="1024128"/>
            <a:chOff x="0" y="0"/>
            <a:chExt cx="10241280" cy="13655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24128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much variance is explained. R²=0.81 → model explains 81% of demand variation.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1520" y="8613648"/>
            <a:ext cx="7680960" cy="731520"/>
            <a:chOff x="0" y="0"/>
            <a:chExt cx="10241280" cy="975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Higher is better  |  Max = 1.0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99270" y="5705094"/>
            <a:ext cx="8359140" cy="3878580"/>
            <a:chOff x="0" y="0"/>
            <a:chExt cx="11145520" cy="5171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14552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145520">
                  <a:moveTo>
                    <a:pt x="0" y="196977"/>
                  </a:moveTo>
                  <a:cubicBezTo>
                    <a:pt x="0" y="88265"/>
                    <a:pt x="88265" y="0"/>
                    <a:pt x="196977" y="0"/>
                  </a:cubicBezTo>
                  <a:lnTo>
                    <a:pt x="10948543" y="0"/>
                  </a:lnTo>
                  <a:cubicBezTo>
                    <a:pt x="11057382" y="0"/>
                    <a:pt x="11145520" y="88265"/>
                    <a:pt x="11145520" y="196977"/>
                  </a:cubicBezTo>
                  <a:lnTo>
                    <a:pt x="11145520" y="4974463"/>
                  </a:lnTo>
                  <a:cubicBezTo>
                    <a:pt x="11145520" y="5083302"/>
                    <a:pt x="11057255" y="5171440"/>
                    <a:pt x="10948543" y="5171440"/>
                  </a:cubicBezTo>
                  <a:lnTo>
                    <a:pt x="196977" y="5171440"/>
                  </a:lnTo>
                  <a:cubicBezTo>
                    <a:pt x="88265" y="5171440"/>
                    <a:pt x="0" y="5083175"/>
                    <a:pt x="0" y="4974463"/>
                  </a:cubicBezTo>
                  <a:close/>
                </a:path>
              </a:pathLst>
            </a:custGeom>
            <a:solidFill>
              <a:srgbClr val="FEE2E2"/>
            </a:solidFill>
            <a:ln w="3810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625079" y="5894327"/>
            <a:ext cx="1342139" cy="793499"/>
            <a:chOff x="0" y="0"/>
            <a:chExt cx="1789519" cy="10579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8943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78943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1638300" y="0"/>
                  </a:lnTo>
                  <a:cubicBezTo>
                    <a:pt x="1721739" y="0"/>
                    <a:pt x="1789430" y="67691"/>
                    <a:pt x="1789430" y="151130"/>
                  </a:cubicBezTo>
                  <a:lnTo>
                    <a:pt x="1789430" y="906780"/>
                  </a:lnTo>
                  <a:cubicBezTo>
                    <a:pt x="1789430" y="990219"/>
                    <a:pt x="1721739" y="1057910"/>
                    <a:pt x="1638300" y="1057910"/>
                  </a:cubicBezTo>
                  <a:lnTo>
                    <a:pt x="151130" y="1057910"/>
                  </a:lnTo>
                  <a:cubicBezTo>
                    <a:pt x="67691" y="1058037"/>
                    <a:pt x="0" y="990346"/>
                    <a:pt x="0" y="906907"/>
                  </a:cubicBezTo>
                  <a:close/>
                </a:path>
              </a:pathLst>
            </a:custGeom>
            <a:solidFill>
              <a:srgbClr val="E74C3C"/>
            </a:solidFill>
            <a:ln w="2540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637776" y="5907024"/>
            <a:ext cx="1316736" cy="768096"/>
            <a:chOff x="0" y="0"/>
            <a:chExt cx="1755648" cy="10241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5564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75564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MAPE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155680" y="5980176"/>
            <a:ext cx="6217920" cy="658368"/>
            <a:chOff x="0" y="0"/>
            <a:chExt cx="829056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90560" cy="877824"/>
            </a:xfrm>
            <a:custGeom>
              <a:avLst/>
              <a:gdLst/>
              <a:ahLst/>
              <a:cxnLst/>
              <a:rect r="r" b="b" t="t" l="l"/>
              <a:pathLst>
                <a:path h="87782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2905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 Absolute % Error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92640" y="6858000"/>
            <a:ext cx="7680960" cy="585216"/>
            <a:chOff x="0" y="0"/>
            <a:chExt cx="1024128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 i="true">
                  <a:solidFill>
                    <a:srgbClr val="1E293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Formula: Avg( |y−ŷ| / y ) × 100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479792"/>
            <a:ext cx="7680960" cy="1024128"/>
            <a:chOff x="0" y="0"/>
            <a:chExt cx="10241280" cy="13655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24128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as a percentage. MAPE = 25% means predictions are 25% off on average.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8613648"/>
            <a:ext cx="7680960" cy="731520"/>
            <a:chOff x="0" y="0"/>
            <a:chExt cx="1024128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 is better  |  Scale-independent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Prophet — Baseline Model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1499616"/>
            <a:ext cx="17373600" cy="4206240"/>
            <a:chOff x="0" y="0"/>
            <a:chExt cx="23164800" cy="5608320"/>
          </a:xfrm>
        </p:grpSpPr>
        <p:sp>
          <p:nvSpPr>
            <p:cNvPr name="Freeform 8" id="8" descr="/home/claude/ppt_project/img4_prophet.png"/>
            <p:cNvSpPr/>
            <p:nvPr/>
          </p:nvSpPr>
          <p:spPr>
            <a:xfrm flipH="false" flipV="false" rot="0">
              <a:off x="0" y="0"/>
              <a:ext cx="231648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608320"/>
                  </a:lnTo>
                  <a:lnTo>
                    <a:pt x="0" y="560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3052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5852160"/>
            <a:ext cx="17373600" cy="3840480"/>
            <a:chOff x="0" y="0"/>
            <a:chExt cx="23164800" cy="5120640"/>
          </a:xfrm>
        </p:grpSpPr>
        <p:sp>
          <p:nvSpPr>
            <p:cNvPr name="Freeform 10" id="10" descr="/home/claude/ppt_project/img5_components.png"/>
            <p:cNvSpPr/>
            <p:nvPr/>
          </p:nvSpPr>
          <p:spPr>
            <a:xfrm flipH="false" flipV="false" rot="0">
              <a:off x="0" y="0"/>
              <a:ext cx="23164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120640"/>
                  </a:lnTo>
                  <a:lnTo>
                    <a:pt x="0" y="512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118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200" y="9692640"/>
            <a:ext cx="17373600" cy="457200"/>
            <a:chOff x="0" y="0"/>
            <a:chExt cx="231648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431" r="0" b="-69043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64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E74C3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Prophet MAE=22.0, R²=−0.823 → Negative R² means model is worse than just predicting the mean.  Components show: Upward trend | Holiday spikes | Wed–Thu weekly peak | Yearly seasonal waves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— Final Model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1499616"/>
            <a:ext cx="17373600" cy="6583680"/>
            <a:chOff x="0" y="0"/>
            <a:chExt cx="23164800" cy="8778240"/>
          </a:xfrm>
        </p:grpSpPr>
        <p:sp>
          <p:nvSpPr>
            <p:cNvPr name="Freeform 8" id="8" descr="/home/claude/ppt_project/img6_xgboost.png"/>
            <p:cNvSpPr/>
            <p:nvPr/>
          </p:nvSpPr>
          <p:spPr>
            <a:xfrm flipH="false" flipV="false" rot="0">
              <a:off x="0" y="0"/>
              <a:ext cx="23164800" cy="8778240"/>
            </a:xfrm>
            <a:custGeom>
              <a:avLst/>
              <a:gdLst/>
              <a:ahLst/>
              <a:cxnLst/>
              <a:rect r="r" b="b" t="t" l="l"/>
              <a:pathLst>
                <a:path h="87782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8778240"/>
                  </a:lnTo>
                  <a:lnTo>
                    <a:pt x="0" y="8778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455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50343" y="8363207"/>
            <a:ext cx="3134363" cy="1671323"/>
            <a:chOff x="0" y="0"/>
            <a:chExt cx="4179151" cy="2228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91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179189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4005834" y="0"/>
                  </a:lnTo>
                  <a:cubicBezTo>
                    <a:pt x="4101592" y="0"/>
                    <a:pt x="4179189" y="77597"/>
                    <a:pt x="4179189" y="173355"/>
                  </a:cubicBezTo>
                  <a:lnTo>
                    <a:pt x="4179189" y="2055114"/>
                  </a:lnTo>
                  <a:cubicBezTo>
                    <a:pt x="4179189" y="2150872"/>
                    <a:pt x="4101592" y="2228469"/>
                    <a:pt x="4005834" y="2228469"/>
                  </a:cubicBezTo>
                  <a:lnTo>
                    <a:pt x="173355" y="2228469"/>
                  </a:lnTo>
                  <a:cubicBezTo>
                    <a:pt x="77597" y="2228469"/>
                    <a:pt x="0" y="2150872"/>
                    <a:pt x="0" y="205511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8503920"/>
            <a:ext cx="3108960" cy="804672"/>
            <a:chOff x="0" y="0"/>
            <a:chExt cx="4145280" cy="1072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5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414528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9253728"/>
            <a:ext cx="3108960" cy="512064"/>
            <a:chOff x="0" y="0"/>
            <a:chExt cx="4145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27399" y="8363207"/>
            <a:ext cx="3134363" cy="1671323"/>
            <a:chOff x="0" y="0"/>
            <a:chExt cx="4179151" cy="2228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91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179189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4005834" y="0"/>
                  </a:lnTo>
                  <a:cubicBezTo>
                    <a:pt x="4101592" y="0"/>
                    <a:pt x="4179189" y="77597"/>
                    <a:pt x="4179189" y="173355"/>
                  </a:cubicBezTo>
                  <a:lnTo>
                    <a:pt x="4179189" y="2055114"/>
                  </a:lnTo>
                  <a:cubicBezTo>
                    <a:pt x="4179189" y="2150872"/>
                    <a:pt x="4101592" y="2228469"/>
                    <a:pt x="4005834" y="2228469"/>
                  </a:cubicBezTo>
                  <a:lnTo>
                    <a:pt x="173355" y="2228469"/>
                  </a:lnTo>
                  <a:cubicBezTo>
                    <a:pt x="77597" y="2228469"/>
                    <a:pt x="0" y="2150872"/>
                    <a:pt x="0" y="205511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340096" y="8503920"/>
            <a:ext cx="3108960" cy="804672"/>
            <a:chOff x="0" y="0"/>
            <a:chExt cx="4145280" cy="1072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5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414528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8.61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40096" y="9253728"/>
            <a:ext cx="3108960" cy="512064"/>
            <a:chOff x="0" y="0"/>
            <a:chExt cx="414528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04455" y="8363207"/>
            <a:ext cx="3134363" cy="1671323"/>
            <a:chOff x="0" y="0"/>
            <a:chExt cx="4179151" cy="22284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791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179189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4005834" y="0"/>
                  </a:lnTo>
                  <a:cubicBezTo>
                    <a:pt x="4101592" y="0"/>
                    <a:pt x="4179189" y="77597"/>
                    <a:pt x="4179189" y="173355"/>
                  </a:cubicBezTo>
                  <a:lnTo>
                    <a:pt x="4179189" y="2055114"/>
                  </a:lnTo>
                  <a:cubicBezTo>
                    <a:pt x="4179189" y="2150872"/>
                    <a:pt x="4101592" y="2228469"/>
                    <a:pt x="4005834" y="2228469"/>
                  </a:cubicBezTo>
                  <a:lnTo>
                    <a:pt x="173355" y="2228469"/>
                  </a:lnTo>
                  <a:cubicBezTo>
                    <a:pt x="77597" y="2228469"/>
                    <a:pt x="0" y="2150872"/>
                    <a:pt x="0" y="205511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217152" y="8503920"/>
            <a:ext cx="3108960" cy="804672"/>
            <a:chOff x="0" y="0"/>
            <a:chExt cx="4145280" cy="1072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414528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0.809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17152" y="9253728"/>
            <a:ext cx="3108960" cy="512064"/>
            <a:chOff x="0" y="0"/>
            <a:chExt cx="41452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81511" y="8363207"/>
            <a:ext cx="3134363" cy="1671323"/>
            <a:chOff x="0" y="0"/>
            <a:chExt cx="4179151" cy="22284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9189" cy="2228469"/>
            </a:xfrm>
            <a:custGeom>
              <a:avLst/>
              <a:gdLst/>
              <a:ahLst/>
              <a:cxnLst/>
              <a:rect r="r" b="b" t="t" l="l"/>
              <a:pathLst>
                <a:path h="2228469" w="4179189">
                  <a:moveTo>
                    <a:pt x="0" y="173355"/>
                  </a:moveTo>
                  <a:cubicBezTo>
                    <a:pt x="0" y="77597"/>
                    <a:pt x="77597" y="0"/>
                    <a:pt x="173355" y="0"/>
                  </a:cubicBezTo>
                  <a:lnTo>
                    <a:pt x="4005834" y="0"/>
                  </a:lnTo>
                  <a:cubicBezTo>
                    <a:pt x="4101592" y="0"/>
                    <a:pt x="4179189" y="77597"/>
                    <a:pt x="4179189" y="173355"/>
                  </a:cubicBezTo>
                  <a:lnTo>
                    <a:pt x="4179189" y="2055114"/>
                  </a:lnTo>
                  <a:cubicBezTo>
                    <a:pt x="4179189" y="2150872"/>
                    <a:pt x="4101592" y="2228469"/>
                    <a:pt x="4005834" y="2228469"/>
                  </a:cubicBezTo>
                  <a:lnTo>
                    <a:pt x="173355" y="2228469"/>
                  </a:lnTo>
                  <a:cubicBezTo>
                    <a:pt x="77597" y="2228469"/>
                    <a:pt x="0" y="2150872"/>
                    <a:pt x="0" y="205511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094208" y="8503920"/>
            <a:ext cx="3108960" cy="804672"/>
            <a:chOff x="0" y="0"/>
            <a:chExt cx="4145280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52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414528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94208" y="9253728"/>
            <a:ext cx="3108960" cy="512064"/>
            <a:chOff x="0" y="0"/>
            <a:chExt cx="41452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57200" y="10094976"/>
            <a:ext cx="17373600" cy="457200"/>
            <a:chOff x="0" y="0"/>
            <a:chExt cx="2316480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164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431" r="0" b="-6904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3164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16A3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Predictions follow actual demand closely. Scatter plot shows strong diagonal alignment → minimal systematic bias.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Importance — XGBoost &amp; LightGBM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499616"/>
            <a:ext cx="8595360" cy="8321040"/>
            <a:chOff x="0" y="0"/>
            <a:chExt cx="11460480" cy="11094720"/>
          </a:xfrm>
        </p:grpSpPr>
        <p:sp>
          <p:nvSpPr>
            <p:cNvPr name="Freeform 8" id="8" descr="/home/claude/ppt_project/img7_xgb_feat.png"/>
            <p:cNvSpPr/>
            <p:nvPr/>
          </p:nvSpPr>
          <p:spPr>
            <a:xfrm flipH="false" flipV="false" rot="0">
              <a:off x="0" y="0"/>
              <a:ext cx="1146048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1094720"/>
                  </a:lnTo>
                  <a:lnTo>
                    <a:pt x="0" y="1109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782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26880" y="1499616"/>
            <a:ext cx="8500905" cy="8229600"/>
            <a:chOff x="0" y="0"/>
            <a:chExt cx="11460480" cy="11094720"/>
          </a:xfrm>
        </p:grpSpPr>
        <p:sp>
          <p:nvSpPr>
            <p:cNvPr name="Freeform 10" id="10" descr="/home/claude/ppt_project/img8_lgbm_feat.png"/>
            <p:cNvSpPr/>
            <p:nvPr/>
          </p:nvSpPr>
          <p:spPr>
            <a:xfrm flipH="false" flipV="false" rot="0">
              <a:off x="0" y="0"/>
              <a:ext cx="1146048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1094720"/>
                  </a:lnTo>
                  <a:lnTo>
                    <a:pt x="0" y="1109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403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729216"/>
            <a:ext cx="17556480" cy="457200"/>
            <a:chOff x="0" y="0"/>
            <a:chExt cx="2340864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609600"/>
            </a:xfrm>
            <a:custGeom>
              <a:avLst/>
              <a:gdLst/>
              <a:ahLst/>
              <a:cxnLst/>
              <a:rect r="r" b="b" t="t" l="l"/>
              <a:pathLst>
                <a:path h="6096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225" r="0" b="-6982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02809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XGBoost: n_products (0.58) and promotion_count (0.13) dominate — business-level features matter most.   LightGBM: lag_14 is #1 — recent demand history is the strongest predictor.   Both models agree: promotions, lags, and rolling averages drive demand.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 Model Comparison Dashboard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1499616"/>
            <a:ext cx="17373600" cy="7863840"/>
            <a:chOff x="0" y="0"/>
            <a:chExt cx="23164800" cy="10485120"/>
          </a:xfrm>
        </p:grpSpPr>
        <p:sp>
          <p:nvSpPr>
            <p:cNvPr name="Freeform 8" id="8" descr="/home/claude/ppt_project/img9_dashboard.png"/>
            <p:cNvSpPr/>
            <p:nvPr/>
          </p:nvSpPr>
          <p:spPr>
            <a:xfrm flipH="false" flipV="false" rot="0">
              <a:off x="0" y="0"/>
              <a:ext cx="2316480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0485120"/>
                  </a:lnTo>
                  <a:lnTo>
                    <a:pt x="0" y="1048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665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9473184"/>
            <a:ext cx="17373600" cy="676656"/>
            <a:chOff x="0" y="0"/>
            <a:chExt cx="23164800" cy="9022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64800" cy="902208"/>
            </a:xfrm>
            <a:custGeom>
              <a:avLst/>
              <a:gdLst/>
              <a:ahLst/>
              <a:cxnLst/>
              <a:rect r="r" b="b" t="t" l="l"/>
              <a:pathLst>
                <a:path h="90220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291" r="0" b="-4502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164800" cy="949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02809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Top-left: All models vs actual demand — XGBoost &amp; LightGBM overlap with actual.   Top-right: Error metrics bar chart — Prophet error is 3x higher than XGBoost.   Bottom: XGBoost residuals are small &amp; random (good). Ensemble residuals are wider.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Comparison — Test Period (60 Days)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554480"/>
            <a:ext cx="16459200" cy="3291840"/>
            <a:chOff x="0" y="0"/>
            <a:chExt cx="21945600" cy="4389120"/>
          </a:xfrm>
        </p:grpSpPr>
        <p:sp>
          <p:nvSpPr>
            <p:cNvPr name="Freeform 8" id="8" descr="/home/claude/ppt_project/img10_metrics.png"/>
            <p:cNvSpPr/>
            <p:nvPr/>
          </p:nvSpPr>
          <p:spPr>
            <a:xfrm flipH="false" flipV="false" rot="0">
              <a:off x="0" y="0"/>
              <a:ext cx="21945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0924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14400" y="5157216"/>
          <a:ext cx="15240000" cy="4724400"/>
        </p:xfrm>
        <a:graphic>
          <a:graphicData uri="http://schemas.openxmlformats.org/drawingml/2006/table">
            <a:tbl>
              <a:tblPr/>
              <a:tblGrid>
                <a:gridCol w="4533038"/>
                <a:gridCol w="2015516"/>
                <a:gridCol w="2015516"/>
                <a:gridCol w="1835693"/>
                <a:gridCol w="2015516"/>
                <a:gridCol w="2824720"/>
              </a:tblGrid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Verdict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Facebook Prophet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21.97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29.04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−0.82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Poor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6.99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8.61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✅ Best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LightGBM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8.47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0.815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25.1%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6A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Excellent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4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Ensemble (Weighted)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7.74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0.769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28.2%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⚠️ Good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Baseline (7-day avg)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~16.82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Weak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914400" y="9692640"/>
            <a:ext cx="16459200" cy="512064"/>
            <a:chOff x="0" y="0"/>
            <a:chExt cx="21945600" cy="68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XGBoost reduced error by 68% vs Prophet and 58% vs naive baseline — a massive improvement.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XGBoost is the Best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596647"/>
            <a:ext cx="8255003" cy="2402843"/>
            <a:chOff x="0" y="0"/>
            <a:chExt cx="11006671" cy="320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55399" y="1779527"/>
            <a:ext cx="1031243" cy="1031243"/>
            <a:chOff x="0" y="0"/>
            <a:chExt cx="1374991" cy="1374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68096" y="1792224"/>
            <a:ext cx="1005840" cy="1005840"/>
            <a:chOff x="0" y="0"/>
            <a:chExt cx="134112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5104" y="1828800"/>
            <a:ext cx="6583680" cy="694944"/>
            <a:chOff x="0" y="0"/>
            <a:chExt cx="877824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Lowest MAE (6.99)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743200"/>
            <a:ext cx="7589520" cy="1024128"/>
            <a:chOff x="0" y="0"/>
            <a:chExt cx="10119360" cy="13655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 by just 7 units on average — most practically accurate for real stock decisions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7063" y="1596647"/>
            <a:ext cx="8255003" cy="2402843"/>
            <a:chOff x="0" y="0"/>
            <a:chExt cx="11006671" cy="3203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16519" y="1779527"/>
            <a:ext cx="1031243" cy="1031243"/>
            <a:chOff x="0" y="0"/>
            <a:chExt cx="1374991" cy="1374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29216" y="1792224"/>
            <a:ext cx="1005840" cy="1005840"/>
            <a:chOff x="0" y="0"/>
            <a:chExt cx="13411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36224" y="1828800"/>
            <a:ext cx="6583680" cy="694944"/>
            <a:chOff x="0" y="0"/>
            <a:chExt cx="87782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MAPE (25%)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84080" y="2743200"/>
            <a:ext cx="7589520" cy="1024128"/>
            <a:chOff x="0" y="0"/>
            <a:chExt cx="10119360" cy="1365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Percentage error is lowest — useful for comparing across products with different scales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5943" y="4339847"/>
            <a:ext cx="8255003" cy="2402843"/>
            <a:chOff x="0" y="0"/>
            <a:chExt cx="11006671" cy="32037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55399" y="4522727"/>
            <a:ext cx="1031243" cy="1031243"/>
            <a:chOff x="0" y="0"/>
            <a:chExt cx="137499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68096" y="4535424"/>
            <a:ext cx="1005840" cy="1005840"/>
            <a:chOff x="0" y="0"/>
            <a:chExt cx="134112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75104" y="4572000"/>
            <a:ext cx="6583680" cy="694944"/>
            <a:chOff x="0" y="0"/>
            <a:chExt cx="877824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R² (0.809)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5486400"/>
            <a:ext cx="7589520" cy="1024128"/>
            <a:chOff x="0" y="0"/>
            <a:chExt cx="10119360" cy="13655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Explains 81% of demand variance — strong predictive power on unseen 60-day test set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97063" y="4339847"/>
            <a:ext cx="8255003" cy="2402843"/>
            <a:chOff x="0" y="0"/>
            <a:chExt cx="11006671" cy="32037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716519" y="4522727"/>
            <a:ext cx="1031243" cy="1031243"/>
            <a:chOff x="0" y="0"/>
            <a:chExt cx="1374991" cy="1374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29216" y="4535424"/>
            <a:ext cx="1005840" cy="1005840"/>
            <a:chOff x="0" y="0"/>
            <a:chExt cx="134112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36224" y="4572000"/>
            <a:ext cx="6583680" cy="694944"/>
            <a:chOff x="0" y="0"/>
            <a:chExt cx="877824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Uses all 70+ features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84080" y="5486400"/>
            <a:ext cx="7589520" cy="1024128"/>
            <a:chOff x="0" y="0"/>
            <a:chExt cx="10119360" cy="13655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Lag, rolling, EWM, festival, price, promotion — XGBoost leverages every signal available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7083047"/>
            <a:ext cx="8255003" cy="2402843"/>
            <a:chOff x="0" y="0"/>
            <a:chExt cx="11006671" cy="32037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55399" y="7265927"/>
            <a:ext cx="1031243" cy="1031243"/>
            <a:chOff x="0" y="0"/>
            <a:chExt cx="1374991" cy="13749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68096" y="7278624"/>
            <a:ext cx="1005840" cy="1005840"/>
            <a:chOff x="0" y="0"/>
            <a:chExt cx="1341120" cy="1341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🌲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75104" y="7315200"/>
            <a:ext cx="6583680" cy="694944"/>
            <a:chOff x="0" y="0"/>
            <a:chExt cx="8778240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Tree models + multicollinearity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" y="8229600"/>
            <a:ext cx="7589520" cy="1024128"/>
            <a:chOff x="0" y="0"/>
            <a:chExt cx="10119360" cy="13655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Unaffected by high VIF — splits on single features independently at each node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497063" y="7083047"/>
            <a:ext cx="8255003" cy="2402843"/>
            <a:chOff x="0" y="0"/>
            <a:chExt cx="11006671" cy="32037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1006582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0809478" y="0"/>
                  </a:lnTo>
                  <a:cubicBezTo>
                    <a:pt x="10918317" y="0"/>
                    <a:pt x="11006582" y="88265"/>
                    <a:pt x="11006582" y="197104"/>
                  </a:cubicBezTo>
                  <a:lnTo>
                    <a:pt x="11006582" y="3006598"/>
                  </a:lnTo>
                  <a:cubicBezTo>
                    <a:pt x="11006582" y="3115437"/>
                    <a:pt x="10918317" y="3203702"/>
                    <a:pt x="10809478" y="3203702"/>
                  </a:cubicBezTo>
                  <a:lnTo>
                    <a:pt x="197104" y="3203702"/>
                  </a:lnTo>
                  <a:cubicBezTo>
                    <a:pt x="88265" y="3203829"/>
                    <a:pt x="0" y="3115564"/>
                    <a:pt x="0" y="300659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716519" y="7265927"/>
            <a:ext cx="1031243" cy="1031243"/>
            <a:chOff x="0" y="0"/>
            <a:chExt cx="1374991" cy="13749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1249934" y="0"/>
                  </a:lnTo>
                  <a:cubicBezTo>
                    <a:pt x="1319022" y="0"/>
                    <a:pt x="1374902" y="56007"/>
                    <a:pt x="1374902" y="124968"/>
                  </a:cubicBezTo>
                  <a:lnTo>
                    <a:pt x="1374902" y="1249934"/>
                  </a:lnTo>
                  <a:cubicBezTo>
                    <a:pt x="1374902" y="1319022"/>
                    <a:pt x="1318895" y="1374902"/>
                    <a:pt x="124993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729216" y="7278624"/>
            <a:ext cx="1005840" cy="1005840"/>
            <a:chOff x="0" y="0"/>
            <a:chExt cx="1341120" cy="13411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936224" y="7315200"/>
            <a:ext cx="6583680" cy="694944"/>
            <a:chOff x="0" y="0"/>
            <a:chExt cx="877824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87782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 &amp; scalable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784080" y="8229600"/>
            <a:ext cx="7589520" cy="1024128"/>
            <a:chOff x="0" y="0"/>
            <a:chExt cx="10119360" cy="136550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01193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Trains in seconds, ready for real-world deployment with minimal compute resources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35943" y="9497063"/>
            <a:ext cx="17216123" cy="610619"/>
            <a:chOff x="0" y="0"/>
            <a:chExt cx="22954831" cy="81415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954869" cy="814197"/>
            </a:xfrm>
            <a:custGeom>
              <a:avLst/>
              <a:gdLst/>
              <a:ahLst/>
              <a:cxnLst/>
              <a:rect r="r" b="b" t="t" l="l"/>
              <a:pathLst>
                <a:path h="814197" w="22954869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2802214" y="0"/>
                  </a:lnTo>
                  <a:cubicBezTo>
                    <a:pt x="22886543" y="0"/>
                    <a:pt x="22954869" y="68326"/>
                    <a:pt x="22954869" y="152654"/>
                  </a:cubicBezTo>
                  <a:lnTo>
                    <a:pt x="22954869" y="661543"/>
                  </a:lnTo>
                  <a:cubicBezTo>
                    <a:pt x="22954869" y="745871"/>
                    <a:pt x="22886543" y="814197"/>
                    <a:pt x="22802214" y="814197"/>
                  </a:cubicBezTo>
                  <a:lnTo>
                    <a:pt x="152654" y="814197"/>
                  </a:lnTo>
                  <a:cubicBezTo>
                    <a:pt x="68326" y="814197"/>
                    <a:pt x="0" y="745871"/>
                    <a:pt x="0" y="661543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548640" y="9509760"/>
            <a:ext cx="17190720" cy="585216"/>
            <a:chOff x="0" y="0"/>
            <a:chExt cx="22920960" cy="7802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22920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 "XGBoost provides the lowest MAE and MAPE with strong R², making it most suitable for real-world demand forecasting."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 &amp; Stock Recommendation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3063" y="1596647"/>
            <a:ext cx="3042923" cy="3500123"/>
            <a:chOff x="0" y="0"/>
            <a:chExt cx="4057231" cy="4666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7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40571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3811270" y="0"/>
                  </a:lnTo>
                  <a:cubicBezTo>
                    <a:pt x="3947033" y="0"/>
                    <a:pt x="4057142" y="110109"/>
                    <a:pt x="4057142" y="245872"/>
                  </a:cubicBezTo>
                  <a:lnTo>
                    <a:pt x="4057142" y="4420870"/>
                  </a:lnTo>
                  <a:cubicBezTo>
                    <a:pt x="4057142" y="4556633"/>
                    <a:pt x="3947033" y="4666742"/>
                    <a:pt x="3811270" y="4666742"/>
                  </a:cubicBezTo>
                  <a:lnTo>
                    <a:pt x="245872" y="4666742"/>
                  </a:lnTo>
                  <a:cubicBezTo>
                    <a:pt x="110109" y="4666869"/>
                    <a:pt x="0" y="4556760"/>
                    <a:pt x="0" y="4420870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792224"/>
            <a:ext cx="3017520" cy="1005840"/>
            <a:chOff x="0" y="0"/>
            <a:chExt cx="402336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40233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📅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" y="2834640"/>
            <a:ext cx="3017520" cy="694944"/>
            <a:chOff x="0" y="0"/>
            <a:chExt cx="402336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0233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Data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5760" y="3529584"/>
            <a:ext cx="3017520" cy="1316736"/>
            <a:chOff x="0" y="0"/>
            <a:chExt cx="4023360" cy="1755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3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7" t="0" r="-59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23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sales, promotions, holidays, price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38144" y="2011680"/>
            <a:ext cx="457200" cy="914400"/>
            <a:chOff x="0" y="0"/>
            <a:chExt cx="6096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0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91207" y="1596647"/>
            <a:ext cx="3042923" cy="3500123"/>
            <a:chOff x="0" y="0"/>
            <a:chExt cx="4057231" cy="46668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57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40571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3811270" y="0"/>
                  </a:lnTo>
                  <a:cubicBezTo>
                    <a:pt x="3947033" y="0"/>
                    <a:pt x="4057142" y="110109"/>
                    <a:pt x="4057142" y="245872"/>
                  </a:cubicBezTo>
                  <a:lnTo>
                    <a:pt x="4057142" y="4420870"/>
                  </a:lnTo>
                  <a:cubicBezTo>
                    <a:pt x="4057142" y="4556633"/>
                    <a:pt x="3947033" y="4666742"/>
                    <a:pt x="3811270" y="4666742"/>
                  </a:cubicBezTo>
                  <a:lnTo>
                    <a:pt x="245872" y="4666742"/>
                  </a:lnTo>
                  <a:cubicBezTo>
                    <a:pt x="110109" y="4666869"/>
                    <a:pt x="0" y="4556760"/>
                    <a:pt x="0" y="4420870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803904" y="1792224"/>
            <a:ext cx="3017520" cy="1005840"/>
            <a:chOff x="0" y="0"/>
            <a:chExt cx="402336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40233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03904" y="2834640"/>
            <a:ext cx="3017520" cy="694944"/>
            <a:chOff x="0" y="0"/>
            <a:chExt cx="402336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0233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Model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03904" y="3529584"/>
            <a:ext cx="3017520" cy="1316736"/>
            <a:chOff x="0" y="0"/>
            <a:chExt cx="402336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7" t="0" r="-59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23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70+ features, trained on 600 days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76288" y="2011680"/>
            <a:ext cx="457200" cy="914400"/>
            <a:chOff x="0" y="0"/>
            <a:chExt cx="6096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60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29351" y="1596647"/>
            <a:ext cx="3042923" cy="3500123"/>
            <a:chOff x="0" y="0"/>
            <a:chExt cx="4057231" cy="46668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57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40571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3811270" y="0"/>
                  </a:lnTo>
                  <a:cubicBezTo>
                    <a:pt x="3947033" y="0"/>
                    <a:pt x="4057142" y="110109"/>
                    <a:pt x="4057142" y="245872"/>
                  </a:cubicBezTo>
                  <a:lnTo>
                    <a:pt x="4057142" y="4420870"/>
                  </a:lnTo>
                  <a:cubicBezTo>
                    <a:pt x="4057142" y="4556633"/>
                    <a:pt x="3947033" y="4666742"/>
                    <a:pt x="3811270" y="4666742"/>
                  </a:cubicBezTo>
                  <a:lnTo>
                    <a:pt x="245872" y="4666742"/>
                  </a:lnTo>
                  <a:cubicBezTo>
                    <a:pt x="110109" y="4666869"/>
                    <a:pt x="0" y="4556760"/>
                    <a:pt x="0" y="4420870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242048" y="1792224"/>
            <a:ext cx="3017520" cy="1005840"/>
            <a:chOff x="0" y="0"/>
            <a:chExt cx="402336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40233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42048" y="2834640"/>
            <a:ext cx="3017520" cy="694944"/>
            <a:chOff x="0" y="0"/>
            <a:chExt cx="402336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0233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14-Day Forecast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242048" y="3529584"/>
            <a:ext cx="3017520" cy="1316736"/>
            <a:chOff x="0" y="0"/>
            <a:chExt cx="4023360" cy="1755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7" t="0" r="-598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023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demand predictions with trend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14432" y="2011680"/>
            <a:ext cx="457200" cy="914400"/>
            <a:chOff x="0" y="0"/>
            <a:chExt cx="60960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0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67495" y="1596647"/>
            <a:ext cx="3042923" cy="3500123"/>
            <a:chOff x="0" y="0"/>
            <a:chExt cx="4057231" cy="46668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57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40571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3811270" y="0"/>
                  </a:lnTo>
                  <a:cubicBezTo>
                    <a:pt x="3947033" y="0"/>
                    <a:pt x="4057142" y="110109"/>
                    <a:pt x="4057142" y="245872"/>
                  </a:cubicBezTo>
                  <a:lnTo>
                    <a:pt x="4057142" y="4420870"/>
                  </a:lnTo>
                  <a:cubicBezTo>
                    <a:pt x="4057142" y="4556633"/>
                    <a:pt x="3947033" y="4666742"/>
                    <a:pt x="3811270" y="4666742"/>
                  </a:cubicBezTo>
                  <a:lnTo>
                    <a:pt x="245872" y="4666742"/>
                  </a:lnTo>
                  <a:cubicBezTo>
                    <a:pt x="110109" y="4666869"/>
                    <a:pt x="0" y="4556760"/>
                    <a:pt x="0" y="4420870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680192" y="1792224"/>
            <a:ext cx="3017520" cy="1005840"/>
            <a:chOff x="0" y="0"/>
            <a:chExt cx="402336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40233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80192" y="2834640"/>
            <a:ext cx="3017520" cy="694944"/>
            <a:chOff x="0" y="0"/>
            <a:chExt cx="4023360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0233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 Recommendation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80192" y="3529584"/>
            <a:ext cx="3017520" cy="1316736"/>
            <a:chOff x="0" y="0"/>
            <a:chExt cx="4023360" cy="17556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7" t="0" r="-598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023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qty = forecast + safety buffer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52576" y="2011680"/>
            <a:ext cx="457200" cy="914400"/>
            <a:chOff x="0" y="0"/>
            <a:chExt cx="6096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60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105639" y="1596647"/>
            <a:ext cx="3042923" cy="3500123"/>
            <a:chOff x="0" y="0"/>
            <a:chExt cx="4057231" cy="466683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57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405714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3811270" y="0"/>
                  </a:lnTo>
                  <a:cubicBezTo>
                    <a:pt x="3947033" y="0"/>
                    <a:pt x="4057142" y="110109"/>
                    <a:pt x="4057142" y="245872"/>
                  </a:cubicBezTo>
                  <a:lnTo>
                    <a:pt x="4057142" y="4420870"/>
                  </a:lnTo>
                  <a:cubicBezTo>
                    <a:pt x="4057142" y="4556633"/>
                    <a:pt x="3947033" y="4666742"/>
                    <a:pt x="3811270" y="4666742"/>
                  </a:cubicBezTo>
                  <a:lnTo>
                    <a:pt x="245872" y="4666742"/>
                  </a:lnTo>
                  <a:cubicBezTo>
                    <a:pt x="110109" y="4666869"/>
                    <a:pt x="0" y="4556760"/>
                    <a:pt x="0" y="4420870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118336" y="1792224"/>
            <a:ext cx="3017520" cy="1005840"/>
            <a:chOff x="0" y="0"/>
            <a:chExt cx="4023360" cy="1341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402336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118336" y="2834640"/>
            <a:ext cx="3017520" cy="694944"/>
            <a:chOff x="0" y="0"/>
            <a:chExt cx="402336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0233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Explanation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118336" y="3529584"/>
            <a:ext cx="3017520" cy="1316736"/>
            <a:chOff x="0" y="0"/>
            <a:chExt cx="4023360" cy="17556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23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7" t="0" r="-598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023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Plain English reason: why demand will rise/fall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35943" y="5437127"/>
            <a:ext cx="17216123" cy="4633979"/>
            <a:chOff x="0" y="0"/>
            <a:chExt cx="22954831" cy="61786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54869" cy="6178677"/>
            </a:xfrm>
            <a:custGeom>
              <a:avLst/>
              <a:gdLst/>
              <a:ahLst/>
              <a:cxnLst/>
              <a:rect r="r" b="b" t="t" l="l"/>
              <a:pathLst>
                <a:path h="6178677" w="22954869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22758654" y="0"/>
                  </a:lnTo>
                  <a:cubicBezTo>
                    <a:pt x="22866986" y="0"/>
                    <a:pt x="22954869" y="87884"/>
                    <a:pt x="22954869" y="196215"/>
                  </a:cubicBezTo>
                  <a:lnTo>
                    <a:pt x="22954869" y="5982462"/>
                  </a:lnTo>
                  <a:cubicBezTo>
                    <a:pt x="22954869" y="6090793"/>
                    <a:pt x="22866986" y="6178677"/>
                    <a:pt x="22758654" y="6178677"/>
                  </a:cubicBezTo>
                  <a:lnTo>
                    <a:pt x="196215" y="6178677"/>
                  </a:lnTo>
                  <a:cubicBezTo>
                    <a:pt x="87884" y="6178677"/>
                    <a:pt x="0" y="6090793"/>
                    <a:pt x="0" y="598246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548640" y="5596128"/>
            <a:ext cx="17190720" cy="694944"/>
            <a:chOff x="0" y="0"/>
            <a:chExt cx="2292096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Buffer Logic — How Stock Recommendation Works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1520" y="5640324"/>
            <a:ext cx="16824960" cy="658368"/>
            <a:chOff x="0" y="0"/>
            <a:chExt cx="22433280" cy="8778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43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24332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3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 SMART STOCK BUFFER RULES: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58368" y="6383017"/>
            <a:ext cx="3079490" cy="3434077"/>
            <a:chOff x="0" y="0"/>
            <a:chExt cx="4105986" cy="45787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05950" cy="4578731"/>
            </a:xfrm>
            <a:custGeom>
              <a:avLst/>
              <a:gdLst/>
              <a:ahLst/>
              <a:cxnLst/>
              <a:rect r="r" b="b" t="t" l="l"/>
              <a:pathLst>
                <a:path h="4578731" w="4105950">
                  <a:moveTo>
                    <a:pt x="0" y="0"/>
                  </a:moveTo>
                  <a:lnTo>
                    <a:pt x="4105950" y="0"/>
                  </a:lnTo>
                  <a:lnTo>
                    <a:pt x="4105950" y="4578731"/>
                  </a:lnTo>
                  <a:lnTo>
                    <a:pt x="0" y="4578731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517904" y="6591300"/>
            <a:ext cx="1188720" cy="1188720"/>
            <a:chOff x="0" y="0"/>
            <a:chExt cx="1584960" cy="1584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17904" y="6591300"/>
            <a:ext cx="1188720" cy="1188720"/>
            <a:chOff x="0" y="0"/>
            <a:chExt cx="1584960" cy="15849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📅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8368" y="7944612"/>
            <a:ext cx="2926080" cy="585216"/>
            <a:chOff x="0" y="0"/>
            <a:chExt cx="3901440" cy="7802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 Day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9264" y="8602980"/>
            <a:ext cx="2286000" cy="822960"/>
            <a:chOff x="0" y="0"/>
            <a:chExt cx="3048000" cy="1097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9264" y="8602980"/>
            <a:ext cx="2286000" cy="822960"/>
            <a:chOff x="0" y="0"/>
            <a:chExt cx="3048000" cy="10972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3048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+15%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3997957" y="6383017"/>
            <a:ext cx="3251197" cy="3434077"/>
            <a:chOff x="0" y="0"/>
            <a:chExt cx="4334929" cy="457876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334891" cy="4578731"/>
            </a:xfrm>
            <a:custGeom>
              <a:avLst/>
              <a:gdLst/>
              <a:ahLst/>
              <a:cxnLst/>
              <a:rect r="r" b="b" t="t" l="l"/>
              <a:pathLst>
                <a:path h="457873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4578731"/>
                  </a:lnTo>
                  <a:lnTo>
                    <a:pt x="0" y="4578731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5029200" y="6591300"/>
            <a:ext cx="1188720" cy="1188720"/>
            <a:chOff x="0" y="0"/>
            <a:chExt cx="1584960" cy="15849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029200" y="6591300"/>
            <a:ext cx="1188720" cy="1188720"/>
            <a:chOff x="0" y="0"/>
            <a:chExt cx="158496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🏖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169664" y="7944612"/>
            <a:ext cx="2926080" cy="585216"/>
            <a:chOff x="0" y="0"/>
            <a:chExt cx="3901440" cy="7802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Weekend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480560" y="8602980"/>
            <a:ext cx="2286000" cy="822960"/>
            <a:chOff x="0" y="0"/>
            <a:chExt cx="3048000" cy="1097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480560" y="8602980"/>
            <a:ext cx="2286000" cy="822960"/>
            <a:chOff x="0" y="0"/>
            <a:chExt cx="3048000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3048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+22%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509253" y="6383017"/>
            <a:ext cx="3251197" cy="3434077"/>
            <a:chOff x="0" y="0"/>
            <a:chExt cx="4334929" cy="4578769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334891" cy="4578731"/>
            </a:xfrm>
            <a:custGeom>
              <a:avLst/>
              <a:gdLst/>
              <a:ahLst/>
              <a:cxnLst/>
              <a:rect r="r" b="b" t="t" l="l"/>
              <a:pathLst>
                <a:path h="457873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4578731"/>
                  </a:lnTo>
                  <a:lnTo>
                    <a:pt x="0" y="4578731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F43F5E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8540496" y="6591300"/>
            <a:ext cx="1188720" cy="1188720"/>
            <a:chOff x="0" y="0"/>
            <a:chExt cx="1584960" cy="15849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540496" y="6591300"/>
            <a:ext cx="1188720" cy="1188720"/>
            <a:chOff x="0" y="0"/>
            <a:chExt cx="1584960" cy="1584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🎉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680960" y="7944612"/>
            <a:ext cx="2926080" cy="585216"/>
            <a:chOff x="0" y="0"/>
            <a:chExt cx="3901440" cy="7802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Major Festival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991856" y="8602980"/>
            <a:ext cx="2286000" cy="822960"/>
            <a:chOff x="0" y="0"/>
            <a:chExt cx="3048000" cy="10972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991856" y="8602980"/>
            <a:ext cx="2286000" cy="822960"/>
            <a:chOff x="0" y="0"/>
            <a:chExt cx="3048000" cy="10972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57150"/>
              <a:ext cx="3048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+40%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020549" y="6383017"/>
            <a:ext cx="3251197" cy="3434077"/>
            <a:chOff x="0" y="0"/>
            <a:chExt cx="4334929" cy="457876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334891" cy="4578731"/>
            </a:xfrm>
            <a:custGeom>
              <a:avLst/>
              <a:gdLst/>
              <a:ahLst/>
              <a:cxnLst/>
              <a:rect r="r" b="b" t="t" l="l"/>
              <a:pathLst>
                <a:path h="457873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4578731"/>
                  </a:lnTo>
                  <a:lnTo>
                    <a:pt x="0" y="4578731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051792" y="6591300"/>
            <a:ext cx="1188720" cy="1188720"/>
            <a:chOff x="0" y="0"/>
            <a:chExt cx="1584960" cy="15849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051792" y="6591300"/>
            <a:ext cx="1188720" cy="1188720"/>
            <a:chOff x="0" y="0"/>
            <a:chExt cx="1584960" cy="15849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🏷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192256" y="7944612"/>
            <a:ext cx="2926080" cy="585216"/>
            <a:chOff x="0" y="0"/>
            <a:chExt cx="3901440" cy="78028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Minor Festival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503152" y="8602980"/>
            <a:ext cx="2286000" cy="822960"/>
            <a:chOff x="0" y="0"/>
            <a:chExt cx="3048000" cy="10972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1503152" y="8602980"/>
            <a:ext cx="2286000" cy="822960"/>
            <a:chOff x="0" y="0"/>
            <a:chExt cx="3048000" cy="10972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57150"/>
              <a:ext cx="3048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+30%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4531845" y="6383017"/>
            <a:ext cx="3097787" cy="3434077"/>
            <a:chOff x="0" y="0"/>
            <a:chExt cx="4130383" cy="457876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130346" cy="4578731"/>
            </a:xfrm>
            <a:custGeom>
              <a:avLst/>
              <a:gdLst/>
              <a:ahLst/>
              <a:cxnLst/>
              <a:rect r="r" b="b" t="t" l="l"/>
              <a:pathLst>
                <a:path h="4578731" w="4130346">
                  <a:moveTo>
                    <a:pt x="0" y="0"/>
                  </a:moveTo>
                  <a:lnTo>
                    <a:pt x="4130346" y="0"/>
                  </a:lnTo>
                  <a:lnTo>
                    <a:pt x="4130346" y="4578731"/>
                  </a:lnTo>
                  <a:lnTo>
                    <a:pt x="0" y="4578731"/>
                  </a:ln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FBBF24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5563088" y="6591300"/>
            <a:ext cx="1188720" cy="1188720"/>
            <a:chOff x="0" y="0"/>
            <a:chExt cx="1584960" cy="15849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792480"/>
                  </a:moveTo>
                  <a:cubicBezTo>
                    <a:pt x="0" y="354838"/>
                    <a:pt x="354838" y="0"/>
                    <a:pt x="792480" y="0"/>
                  </a:cubicBezTo>
                  <a:cubicBezTo>
                    <a:pt x="1230122" y="0"/>
                    <a:pt x="1584960" y="354838"/>
                    <a:pt x="1584960" y="792480"/>
                  </a:cubicBezTo>
                  <a:cubicBezTo>
                    <a:pt x="1584960" y="1230122"/>
                    <a:pt x="1230122" y="1584960"/>
                    <a:pt x="792480" y="1584960"/>
                  </a:cubicBezTo>
                  <a:cubicBezTo>
                    <a:pt x="354838" y="1584960"/>
                    <a:pt x="0" y="1230122"/>
                    <a:pt x="0" y="792480"/>
                  </a:cubicBez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5563088" y="6591300"/>
            <a:ext cx="1188720" cy="1188720"/>
            <a:chOff x="0" y="0"/>
            <a:chExt cx="1584960" cy="15849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66675"/>
              <a:ext cx="158496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📢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4703552" y="7944612"/>
            <a:ext cx="2926080" cy="585216"/>
            <a:chOff x="0" y="0"/>
            <a:chExt cx="3901440" cy="78028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901440" cy="780288"/>
            </a:xfrm>
            <a:custGeom>
              <a:avLst/>
              <a:gdLst/>
              <a:ahLst/>
              <a:cxnLst/>
              <a:rect r="r" b="b" t="t" l="l"/>
              <a:pathLst>
                <a:path h="78028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3901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Promotion Day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5014448" y="8602980"/>
            <a:ext cx="2286000" cy="822960"/>
            <a:chOff x="0" y="0"/>
            <a:chExt cx="3048000" cy="10972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BBF24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5014448" y="8602980"/>
            <a:ext cx="2286000" cy="822960"/>
            <a:chOff x="0" y="0"/>
            <a:chExt cx="3048000" cy="109728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04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57150"/>
              <a:ext cx="30480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+25%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7097" y="-92709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028090">
                <a:alpha val="1176"/>
              </a:srgbClr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617703" y="583946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02C39A">
                <a:alpha val="2353"/>
              </a:srgbClr>
            </a:solidFill>
            <a:ln w="25400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682496"/>
            <a:ext cx="16459200" cy="694944"/>
            <a:chOff x="0" y="0"/>
            <a:chExt cx="2194560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A0C4C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Switching from LSTM &amp; Prophet → XGBoost &amp; LightGBM reduced MAE by over 68%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8230" y="2632710"/>
            <a:ext cx="3549396" cy="3055620"/>
            <a:chOff x="0" y="0"/>
            <a:chExt cx="4732528" cy="4074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32528" cy="4074160"/>
            </a:xfrm>
            <a:custGeom>
              <a:avLst/>
              <a:gdLst/>
              <a:ahLst/>
              <a:cxnLst/>
              <a:rect r="r" b="b" t="t" l="l"/>
              <a:pathLst>
                <a:path h="4074160" w="4732528">
                  <a:moveTo>
                    <a:pt x="0" y="246888"/>
                  </a:moveTo>
                  <a:cubicBezTo>
                    <a:pt x="0" y="110617"/>
                    <a:pt x="110617" y="0"/>
                    <a:pt x="246888" y="0"/>
                  </a:cubicBezTo>
                  <a:lnTo>
                    <a:pt x="4485640" y="0"/>
                  </a:lnTo>
                  <a:cubicBezTo>
                    <a:pt x="4622038" y="0"/>
                    <a:pt x="4732528" y="110617"/>
                    <a:pt x="4732528" y="246888"/>
                  </a:cubicBezTo>
                  <a:lnTo>
                    <a:pt x="4732528" y="3827272"/>
                  </a:lnTo>
                  <a:cubicBezTo>
                    <a:pt x="4732528" y="3963670"/>
                    <a:pt x="4621911" y="4074160"/>
                    <a:pt x="4485640" y="4074160"/>
                  </a:cubicBezTo>
                  <a:lnTo>
                    <a:pt x="246888" y="4074160"/>
                  </a:lnTo>
                  <a:cubicBezTo>
                    <a:pt x="110617" y="4074160"/>
                    <a:pt x="0" y="3963543"/>
                    <a:pt x="0" y="3827272"/>
                  </a:cubicBezTo>
                  <a:close/>
                </a:path>
              </a:pathLst>
            </a:custGeom>
            <a:solidFill>
              <a:srgbClr val="1A2B3C"/>
            </a:solidFill>
            <a:ln w="3810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834640"/>
            <a:ext cx="3511296" cy="731520"/>
            <a:chOff x="0" y="0"/>
            <a:chExt cx="4681728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81728" cy="975360"/>
            </a:xfrm>
            <a:custGeom>
              <a:avLst/>
              <a:gdLst/>
              <a:ahLst/>
              <a:cxnLst/>
              <a:rect r="r" b="b" t="t" l="l"/>
              <a:pathLst>
                <a:path h="975360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68172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Prophet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3657600"/>
            <a:ext cx="3511296" cy="621792"/>
            <a:chOff x="0" y="0"/>
            <a:chExt cx="4681728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681728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21.97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279392"/>
            <a:ext cx="3511296" cy="621792"/>
            <a:chOff x="0" y="0"/>
            <a:chExt cx="4681728" cy="829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8172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−0.82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4864608"/>
            <a:ext cx="3511296" cy="512064"/>
            <a:chOff x="0" y="0"/>
            <a:chExt cx="4681728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81728" cy="682752"/>
            </a:xfrm>
            <a:custGeom>
              <a:avLst/>
              <a:gdLst/>
              <a:ahLst/>
              <a:cxnLst/>
              <a:rect r="r" b="b" t="t" l="l"/>
              <a:pathLst>
                <a:path h="68275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68172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MAPE: 70%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38166" y="2632710"/>
            <a:ext cx="3549396" cy="3055620"/>
            <a:chOff x="0" y="0"/>
            <a:chExt cx="4732528" cy="4074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32528" cy="4074160"/>
            </a:xfrm>
            <a:custGeom>
              <a:avLst/>
              <a:gdLst/>
              <a:ahLst/>
              <a:cxnLst/>
              <a:rect r="r" b="b" t="t" l="l"/>
              <a:pathLst>
                <a:path h="4074160" w="4732528">
                  <a:moveTo>
                    <a:pt x="0" y="246888"/>
                  </a:moveTo>
                  <a:cubicBezTo>
                    <a:pt x="0" y="110617"/>
                    <a:pt x="110617" y="0"/>
                    <a:pt x="246888" y="0"/>
                  </a:cubicBezTo>
                  <a:lnTo>
                    <a:pt x="4485640" y="0"/>
                  </a:lnTo>
                  <a:cubicBezTo>
                    <a:pt x="4622038" y="0"/>
                    <a:pt x="4732528" y="110617"/>
                    <a:pt x="4732528" y="246888"/>
                  </a:cubicBezTo>
                  <a:lnTo>
                    <a:pt x="4732528" y="3827272"/>
                  </a:lnTo>
                  <a:cubicBezTo>
                    <a:pt x="4732528" y="3963670"/>
                    <a:pt x="4621911" y="4074160"/>
                    <a:pt x="4485640" y="4074160"/>
                  </a:cubicBezTo>
                  <a:lnTo>
                    <a:pt x="246888" y="4074160"/>
                  </a:lnTo>
                  <a:cubicBezTo>
                    <a:pt x="110617" y="4074160"/>
                    <a:pt x="0" y="3963543"/>
                    <a:pt x="0" y="3827272"/>
                  </a:cubicBezTo>
                  <a:close/>
                </a:path>
              </a:pathLst>
            </a:custGeom>
            <a:solidFill>
              <a:srgbClr val="1A2B3C"/>
            </a:solidFill>
            <a:ln w="381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57216" y="2834640"/>
            <a:ext cx="3511296" cy="731520"/>
            <a:chOff x="0" y="0"/>
            <a:chExt cx="4681728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81728" cy="975360"/>
            </a:xfrm>
            <a:custGeom>
              <a:avLst/>
              <a:gdLst/>
              <a:ahLst/>
              <a:cxnLst/>
              <a:rect r="r" b="b" t="t" l="l"/>
              <a:pathLst>
                <a:path h="975360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68172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XGBoost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57216" y="3657600"/>
            <a:ext cx="3511296" cy="621792"/>
            <a:chOff x="0" y="0"/>
            <a:chExt cx="4681728" cy="8290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681728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6.99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57216" y="4279392"/>
            <a:ext cx="3511296" cy="621792"/>
            <a:chOff x="0" y="0"/>
            <a:chExt cx="4681728" cy="8290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68172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0.809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57216" y="4864608"/>
            <a:ext cx="3511296" cy="512064"/>
            <a:chOff x="0" y="0"/>
            <a:chExt cx="4681728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81728" cy="682752"/>
            </a:xfrm>
            <a:custGeom>
              <a:avLst/>
              <a:gdLst/>
              <a:ahLst/>
              <a:cxnLst/>
              <a:rect r="r" b="b" t="t" l="l"/>
              <a:pathLst>
                <a:path h="68275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68172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MAPE: ~25%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98102" y="2632710"/>
            <a:ext cx="3549396" cy="3055620"/>
            <a:chOff x="0" y="0"/>
            <a:chExt cx="4732528" cy="4074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32528" cy="4074160"/>
            </a:xfrm>
            <a:custGeom>
              <a:avLst/>
              <a:gdLst/>
              <a:ahLst/>
              <a:cxnLst/>
              <a:rect r="r" b="b" t="t" l="l"/>
              <a:pathLst>
                <a:path h="4074160" w="4732528">
                  <a:moveTo>
                    <a:pt x="0" y="246888"/>
                  </a:moveTo>
                  <a:cubicBezTo>
                    <a:pt x="0" y="110617"/>
                    <a:pt x="110617" y="0"/>
                    <a:pt x="246888" y="0"/>
                  </a:cubicBezTo>
                  <a:lnTo>
                    <a:pt x="4485640" y="0"/>
                  </a:lnTo>
                  <a:cubicBezTo>
                    <a:pt x="4622038" y="0"/>
                    <a:pt x="4732528" y="110617"/>
                    <a:pt x="4732528" y="246888"/>
                  </a:cubicBezTo>
                  <a:lnTo>
                    <a:pt x="4732528" y="3827272"/>
                  </a:lnTo>
                  <a:cubicBezTo>
                    <a:pt x="4732528" y="3963670"/>
                    <a:pt x="4621911" y="4074160"/>
                    <a:pt x="4485640" y="4074160"/>
                  </a:cubicBezTo>
                  <a:lnTo>
                    <a:pt x="246888" y="4074160"/>
                  </a:lnTo>
                  <a:cubicBezTo>
                    <a:pt x="110617" y="4074160"/>
                    <a:pt x="0" y="3963543"/>
                    <a:pt x="0" y="3827272"/>
                  </a:cubicBezTo>
                  <a:close/>
                </a:path>
              </a:pathLst>
            </a:custGeom>
            <a:solidFill>
              <a:srgbClr val="1A2B3C"/>
            </a:solidFill>
            <a:ln w="381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17152" y="2834640"/>
            <a:ext cx="3511296" cy="731520"/>
            <a:chOff x="0" y="0"/>
            <a:chExt cx="4681728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81728" cy="975360"/>
            </a:xfrm>
            <a:custGeom>
              <a:avLst/>
              <a:gdLst/>
              <a:ahLst/>
              <a:cxnLst/>
              <a:rect r="r" b="b" t="t" l="l"/>
              <a:pathLst>
                <a:path h="975360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68172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LightGBM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17152" y="3657600"/>
            <a:ext cx="3511296" cy="621792"/>
            <a:chOff x="0" y="0"/>
            <a:chExt cx="4681728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681728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7.02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17152" y="4279392"/>
            <a:ext cx="3511296" cy="621792"/>
            <a:chOff x="0" y="0"/>
            <a:chExt cx="4681728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8172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0.815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17152" y="4864608"/>
            <a:ext cx="3511296" cy="512064"/>
            <a:chOff x="0" y="0"/>
            <a:chExt cx="4681728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81728" cy="682752"/>
            </a:xfrm>
            <a:custGeom>
              <a:avLst/>
              <a:gdLst/>
              <a:ahLst/>
              <a:cxnLst/>
              <a:rect r="r" b="b" t="t" l="l"/>
              <a:pathLst>
                <a:path h="68275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68172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MAPE: ~25%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258038" y="2632710"/>
            <a:ext cx="3549396" cy="3055620"/>
            <a:chOff x="0" y="0"/>
            <a:chExt cx="4732528" cy="4074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32528" cy="4074160"/>
            </a:xfrm>
            <a:custGeom>
              <a:avLst/>
              <a:gdLst/>
              <a:ahLst/>
              <a:cxnLst/>
              <a:rect r="r" b="b" t="t" l="l"/>
              <a:pathLst>
                <a:path h="4074160" w="4732528">
                  <a:moveTo>
                    <a:pt x="0" y="246888"/>
                  </a:moveTo>
                  <a:cubicBezTo>
                    <a:pt x="0" y="110617"/>
                    <a:pt x="110617" y="0"/>
                    <a:pt x="246888" y="0"/>
                  </a:cubicBezTo>
                  <a:lnTo>
                    <a:pt x="4485640" y="0"/>
                  </a:lnTo>
                  <a:cubicBezTo>
                    <a:pt x="4622038" y="0"/>
                    <a:pt x="4732528" y="110617"/>
                    <a:pt x="4732528" y="246888"/>
                  </a:cubicBezTo>
                  <a:lnTo>
                    <a:pt x="4732528" y="3827272"/>
                  </a:lnTo>
                  <a:cubicBezTo>
                    <a:pt x="4732528" y="3963670"/>
                    <a:pt x="4621911" y="4074160"/>
                    <a:pt x="4485640" y="4074160"/>
                  </a:cubicBezTo>
                  <a:lnTo>
                    <a:pt x="246888" y="4074160"/>
                  </a:lnTo>
                  <a:cubicBezTo>
                    <a:pt x="110617" y="4074160"/>
                    <a:pt x="0" y="3963543"/>
                    <a:pt x="0" y="3827272"/>
                  </a:cubicBezTo>
                  <a:close/>
                </a:path>
              </a:pathLst>
            </a:custGeom>
            <a:solidFill>
              <a:srgbClr val="1A2B3C"/>
            </a:solidFill>
            <a:ln w="381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77088" y="2834640"/>
            <a:ext cx="3511296" cy="731520"/>
            <a:chOff x="0" y="0"/>
            <a:chExt cx="4681728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81728" cy="975360"/>
            </a:xfrm>
            <a:custGeom>
              <a:avLst/>
              <a:gdLst/>
              <a:ahLst/>
              <a:cxnLst/>
              <a:rect r="r" b="b" t="t" l="l"/>
              <a:pathLst>
                <a:path h="975360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681728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Ensemble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77088" y="3657600"/>
            <a:ext cx="3511296" cy="621792"/>
            <a:chOff x="0" y="0"/>
            <a:chExt cx="4681728" cy="8290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681728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MAE 7.74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277088" y="4279392"/>
            <a:ext cx="3511296" cy="621792"/>
            <a:chOff x="0" y="0"/>
            <a:chExt cx="4681728" cy="829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81728" cy="829056"/>
            </a:xfrm>
            <a:custGeom>
              <a:avLst/>
              <a:gdLst/>
              <a:ahLst/>
              <a:cxnLst/>
              <a:rect r="r" b="b" t="t" l="l"/>
              <a:pathLst>
                <a:path h="82905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3" r="0" b="-6003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8172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0.769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77088" y="4864608"/>
            <a:ext cx="3511296" cy="512064"/>
            <a:chOff x="0" y="0"/>
            <a:chExt cx="4681728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81728" cy="682752"/>
            </a:xfrm>
            <a:custGeom>
              <a:avLst/>
              <a:gdLst/>
              <a:ahLst/>
              <a:cxnLst/>
              <a:rect r="r" b="b" t="t" l="l"/>
              <a:pathLst>
                <a:path h="68275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68172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A9B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MAPE: 28.2%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5998464"/>
            <a:ext cx="16459200" cy="694944"/>
            <a:chOff x="0" y="0"/>
            <a:chExt cx="21945600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219456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828800" y="6766560"/>
            <a:ext cx="14630400" cy="3017520"/>
            <a:chOff x="0" y="0"/>
            <a:chExt cx="19507200" cy="4023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507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9507200" cy="4070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 (70+ features) was the biggest driver of accuracy improvement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Lag and rolling average features best capture recent demand momentum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Tree-based models vastly outperform deep learning on small structured datasets</a:t>
              </a:r>
            </a:p>
            <a:p>
              <a:pPr algn="l" marL="603250" indent="-301625" lvl="1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stock recommendation system provides actionable, explainable output for shop owners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789557"/>
            </a:xfrm>
            <a:custGeom>
              <a:avLst/>
              <a:gdLst/>
              <a:ahLst/>
              <a:cxnLst/>
              <a:rect r="r" b="b" t="t" l="l"/>
              <a:pathLst>
                <a:path h="178955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950976"/>
            <a:chOff x="0" y="0"/>
            <a:chExt cx="21945600" cy="12679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35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 &amp; 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2539" y="1599819"/>
            <a:ext cx="5414010" cy="2250186"/>
            <a:chOff x="0" y="0"/>
            <a:chExt cx="7218680" cy="3000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12064" y="1719072"/>
            <a:ext cx="5394960" cy="694944"/>
            <a:chOff x="0" y="0"/>
            <a:chExt cx="719328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 Web/Mobile App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4944" y="2450592"/>
            <a:ext cx="5029200" cy="1243584"/>
            <a:chOff x="0" y="0"/>
            <a:chExt cx="6705600" cy="1658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as Streamlit or Flutter app for kirana owners to use on phone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18123" y="1599819"/>
            <a:ext cx="5414010" cy="2250186"/>
            <a:chOff x="0" y="0"/>
            <a:chExt cx="7218680" cy="3000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327648" y="1719072"/>
            <a:ext cx="5394960" cy="694944"/>
            <a:chOff x="0" y="0"/>
            <a:chExt cx="719328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 Real-Time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10528" y="2450592"/>
            <a:ext cx="5029200" cy="1243584"/>
            <a:chOff x="0" y="0"/>
            <a:chExt cx="6705600" cy="16581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 with POS billing systems for live demand updates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33707" y="1599819"/>
            <a:ext cx="5414010" cy="2250186"/>
            <a:chOff x="0" y="0"/>
            <a:chExt cx="7218680" cy="30002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143232" y="1719072"/>
            <a:ext cx="5394960" cy="694944"/>
            <a:chOff x="0" y="0"/>
            <a:chExt cx="719328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 Deep Learning (more data)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26112" y="2450592"/>
            <a:ext cx="5029200" cy="1243584"/>
            <a:chOff x="0" y="0"/>
            <a:chExt cx="6705600" cy="1658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LSTM/Transformer with 5+ years of data for more complex patterns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2539" y="4123563"/>
            <a:ext cx="5414010" cy="2250186"/>
            <a:chOff x="0" y="0"/>
            <a:chExt cx="7218680" cy="3000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12064" y="4242816"/>
            <a:ext cx="5394960" cy="694944"/>
            <a:chOff x="0" y="0"/>
            <a:chExt cx="719328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🗺️  Hyper-Local Expansion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4944" y="4974336"/>
            <a:ext cx="5029200" cy="1243584"/>
            <a:chOff x="0" y="0"/>
            <a:chExt cx="6705600" cy="16581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City-level heat maps of demand for distributors &amp; FMCG companies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318123" y="4123563"/>
            <a:ext cx="5414010" cy="2250186"/>
            <a:chOff x="0" y="0"/>
            <a:chExt cx="7218680" cy="3000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327648" y="4242816"/>
            <a:ext cx="5394960" cy="694944"/>
            <a:chOff x="0" y="0"/>
            <a:chExt cx="71932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  Gemini AI Explainer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10528" y="4974336"/>
            <a:ext cx="5029200" cy="1243584"/>
            <a:chOff x="0" y="0"/>
            <a:chExt cx="6705600" cy="16581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Plain-English explanation of why demand will rise/fall for each product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33707" y="4123563"/>
            <a:ext cx="5414010" cy="2250186"/>
            <a:chOff x="0" y="0"/>
            <a:chExt cx="7218680" cy="30002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18680" cy="3000248"/>
            </a:xfrm>
            <a:custGeom>
              <a:avLst/>
              <a:gdLst/>
              <a:ahLst/>
              <a:cxnLst/>
              <a:rect r="r" b="b" t="t" l="l"/>
              <a:pathLst>
                <a:path h="3000248" w="7218680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7021957" y="0"/>
                  </a:lnTo>
                  <a:cubicBezTo>
                    <a:pt x="7130669" y="0"/>
                    <a:pt x="7218680" y="88138"/>
                    <a:pt x="7218680" y="196723"/>
                  </a:cubicBezTo>
                  <a:lnTo>
                    <a:pt x="7218680" y="2803525"/>
                  </a:lnTo>
                  <a:cubicBezTo>
                    <a:pt x="7218680" y="2912237"/>
                    <a:pt x="7130542" y="3000248"/>
                    <a:pt x="7021957" y="3000248"/>
                  </a:cubicBezTo>
                  <a:lnTo>
                    <a:pt x="196723" y="3000248"/>
                  </a:lnTo>
                  <a:cubicBezTo>
                    <a:pt x="88138" y="3000248"/>
                    <a:pt x="0" y="2912110"/>
                    <a:pt x="0" y="280352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143232" y="4242816"/>
            <a:ext cx="5394960" cy="694944"/>
            <a:chOff x="0" y="0"/>
            <a:chExt cx="719328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🔄  Auto Retraining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326112" y="4974336"/>
            <a:ext cx="5029200" cy="1243584"/>
            <a:chOff x="0" y="0"/>
            <a:chExt cx="6705600" cy="16581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70560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updates weekly with new sales data — always current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5943" y="6717287"/>
            <a:ext cx="17216123" cy="3225803"/>
            <a:chOff x="0" y="0"/>
            <a:chExt cx="22954831" cy="43010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9548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229548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22709124" y="0"/>
                  </a:lnTo>
                  <a:cubicBezTo>
                    <a:pt x="22844888" y="0"/>
                    <a:pt x="22954869" y="109982"/>
                    <a:pt x="22954869" y="245745"/>
                  </a:cubicBezTo>
                  <a:lnTo>
                    <a:pt x="22954869" y="4055364"/>
                  </a:lnTo>
                  <a:cubicBezTo>
                    <a:pt x="22954869" y="4191127"/>
                    <a:pt x="22844888" y="4301109"/>
                    <a:pt x="227091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48640" y="6949440"/>
            <a:ext cx="17190720" cy="1762506"/>
            <a:chOff x="0" y="0"/>
            <a:chExt cx="22920960" cy="23500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920961" cy="2350008"/>
            </a:xfrm>
            <a:custGeom>
              <a:avLst/>
              <a:gdLst/>
              <a:ahLst/>
              <a:cxnLst/>
              <a:rect r="r" b="b" t="t" l="l"/>
              <a:pathLst>
                <a:path h="235000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350008"/>
                  </a:lnTo>
                  <a:lnTo>
                    <a:pt x="0" y="2350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14" r="0" b="-1185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2920960" cy="2359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>
                  <a:solidFill>
                    <a:srgbClr val="FFFFFF"/>
                  </a:solidFill>
                  <a:latin typeface="Fineday One"/>
                  <a:ea typeface="Fineday One"/>
                  <a:cs typeface="Fineday One"/>
                  <a:sym typeface="Fineday One"/>
                </a:rPr>
                <a:t> Thank You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48640" y="9052560"/>
            <a:ext cx="17190720" cy="585216"/>
            <a:chOff x="0" y="0"/>
            <a:chExt cx="22920960" cy="780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0C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Used: Python  |  XGBoost  |  LightGBM  |  Prophet  |  Pandas  |  Scikit-learn  |  Matplotlib  |  Seaborn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48640" y="8631936"/>
            <a:ext cx="17190720" cy="1005840"/>
            <a:chOff x="0" y="0"/>
            <a:chExt cx="22920960" cy="1341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2292096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DAHI22RXDos</dc:identifier>
  <dcterms:modified xsi:type="dcterms:W3CDTF">2011-08-01T06:04:30Z</dcterms:modified>
  <cp:revision>1</cp:revision>
  <dc:title>HyperLocal_Demand_Forecasting_Final.pptx</dc:title>
</cp:coreProperties>
</file>